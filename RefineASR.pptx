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64" r:id="rId4"/>
    <p:sldId id="328" r:id="rId5"/>
    <p:sldId id="351" r:id="rId6"/>
    <p:sldId id="343" r:id="rId7"/>
    <p:sldId id="331" r:id="rId8"/>
    <p:sldId id="345" r:id="rId9"/>
    <p:sldId id="491" r:id="rId10"/>
    <p:sldId id="352" r:id="rId11"/>
    <p:sldId id="363" r:id="rId12"/>
    <p:sldId id="490" r:id="rId13"/>
    <p:sldId id="263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6018"/>
  </p:normalViewPr>
  <p:slideViewPr>
    <p:cSldViewPr snapToGrid="0">
      <p:cViewPr varScale="1">
        <p:scale>
          <a:sx n="119" d="100"/>
          <a:sy n="119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0ABD-6390-9B4F-E161-2521AA817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1E7FA-B839-8EA4-DA31-4471D1E84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E971D-C5BA-06E3-B3FF-D33EFD24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7A4C-0A8F-52D3-CB0C-67BD6CFD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B60F9-16D2-72C1-E249-893C4F20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018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A828-53AA-44FC-50F7-9D5C1B58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72613-1CFF-9A9B-04BF-208B5B093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6DCA-1AEA-B14A-9228-B14008F6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3FFE7-8412-F888-4D32-C7031FE2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3911C-8C90-57A1-CDE9-74444CCA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8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76FC-AB4E-D512-F86F-DB67E06A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185-AFE1-FD1B-4680-4229C01A0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71707-C668-C257-1C68-6322AFB3C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E9283-B277-B141-8DCC-B327529C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AFB7D-72E8-C449-EE20-570E6D10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926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004E-5FD3-C65D-2EF6-4050CD94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649A-5F8B-081B-9F4B-7EF25A6D5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AFF20-CA69-714E-05DE-5C193EE5D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E8B61-5237-4E34-FEE6-A96788F7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C7210-DE29-E6D4-6779-27AF501D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3F4FB-87F8-F50B-0CAB-E8F5F747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57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2504-1AD5-83DF-9E1C-2932A3DB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4AFCA-CE9F-7547-90DA-D5B051179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B86D4-0DBB-6EE5-A300-11F87BD2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5E9E7-630A-7D02-646A-1677B0877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AADB5-70AC-B099-1E8D-6A4A5DC53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C0C94-0D32-730C-86FB-79BF267F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DC2D7F-E761-D725-DD96-EE2F28BB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3B2C1-5FC9-296C-401E-5100EBE2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867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D20D-F5AA-0AA0-CF0C-FB02B126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3888E-28B5-F06B-A423-794BD7F5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BAAA9-AA4E-FA08-3FF9-98597FF6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30917-27AA-49B5-A124-8C425C0A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089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195B0-74FA-1864-2EFD-0C94DBBF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429B9-6CBC-4DD4-B608-3AE43165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6D568-EB68-A109-53D2-01B11177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533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3BBA-3844-D796-262E-06A0973B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24AE0-8C03-EAC5-F6FC-13D4808D7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0EB6A-D169-080C-4424-A097C8C86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D6DDD-DF19-BCF3-B512-C56832D2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E7FC1-B17B-B7CC-D2F1-9038E44A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3B3C8-7548-6493-6E42-82CE25EE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6118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17FD-16F6-5BFA-2B9A-DFC07789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81E0F-3821-F19D-FB34-D82EA42B1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7256C-E78A-A1D0-818F-D3CDC970A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C2116-EC51-0088-BBEA-6207C87E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D9980-5C19-CA05-C1B1-CE359849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1B2C8-9199-075B-27BA-C7314BF5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977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C2D5-8487-F8BF-304C-17008F9A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9788B-AE6A-F191-283F-A10E653B4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A78E-8D49-AF1F-59E4-44B4A570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4288-388C-C64A-988B-2E7AB346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111A7-92E2-74FC-EB80-6CD4CA0A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555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8347A-D7A0-22F2-FBC2-EC94C79ED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FBB9E-05BD-1662-0E18-DBF37A50C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812B5-6A20-F1FD-6485-242D29C3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4E66C-5D96-11CC-62D0-C2F323B7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ABAD9-CEC8-3BF7-CAF5-FBF1AD7D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113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EDDC8-48F9-AE33-1BBB-C9CDAB05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69AA4-CA10-5B8D-EB0F-CB858064D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99A2-7198-7E87-1D9D-6BCC11589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7428D-714A-E04A-B8C8-71B76DE45B18}" type="datetimeFigureOut">
              <a:rPr lang="en-CN" smtClean="0"/>
              <a:t>2026/8/30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3655A-44E6-92EF-38FA-80B965855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539E-E227-98D4-07EA-CD67D8038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84782-DB90-F940-897C-71CBCE7958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967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508.19205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6BD8-CAA6-D778-786E-DD481C833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43" y="697820"/>
            <a:ext cx="9144000" cy="2387600"/>
          </a:xfrm>
        </p:spPr>
        <p:txBody>
          <a:bodyPr/>
          <a:lstStyle/>
          <a:p>
            <a:r>
              <a:rPr lang="en-CN" dirty="0"/>
              <a:t>ASR</a:t>
            </a:r>
            <a:br>
              <a:rPr lang="en-CN" dirty="0"/>
            </a:b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E01E6-5B94-9D28-3CDD-870A65453C8B}"/>
              </a:ext>
            </a:extLst>
          </p:cNvPr>
          <p:cNvSpPr txBox="1"/>
          <p:nvPr/>
        </p:nvSpPr>
        <p:spPr>
          <a:xfrm>
            <a:off x="4468586" y="2536371"/>
            <a:ext cx="46917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Whisper 2022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SenseVoice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Tongyi</a:t>
            </a:r>
            <a:r>
              <a:rPr lang="en-US" dirty="0">
                <a:effectLst/>
                <a:latin typeface="Helvetica Neue" panose="02000503000000020004" pitchFamily="2" charset="0"/>
              </a:rPr>
              <a:t> 2024.7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Qwen2-Audio 7B 2024.7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VibeVoice</a:t>
            </a:r>
            <a:r>
              <a:rPr lang="en-US" dirty="0">
                <a:effectLst/>
                <a:latin typeface="Helvetica Neue" panose="02000503000000020004" pitchFamily="2" charset="0"/>
              </a:rPr>
              <a:t> 7B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microsoft</a:t>
            </a:r>
            <a:r>
              <a:rPr lang="en-US" dirty="0">
                <a:effectLst/>
                <a:latin typeface="Helvetica Neue" panose="02000503000000020004" pitchFamily="2" charset="0"/>
              </a:rPr>
              <a:t> 2025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VibeVoiceASR</a:t>
            </a:r>
            <a:r>
              <a:rPr lang="en-US" dirty="0">
                <a:effectLst/>
                <a:latin typeface="Helvetica Neue" panose="02000503000000020004" pitchFamily="2" charset="0"/>
              </a:rPr>
              <a:t> 2026.3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Step-Audio 2025.8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Mimo</a:t>
            </a:r>
            <a:r>
              <a:rPr lang="en-US" dirty="0">
                <a:effectLst/>
                <a:latin typeface="Helvetica Neue" panose="02000503000000020004" pitchFamily="2" charset="0"/>
              </a:rPr>
              <a:t>-Audio 7B. 2025.12 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Moss-Transcribe-Diarize  0.9B  2026.7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Cohere-transcribe-03-2026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Qwen3-ASR-1.7B. 2026.1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1734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BCE51A-3BA6-FCEE-D40B-45330F4B8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62915"/>
              </p:ext>
            </p:extLst>
          </p:nvPr>
        </p:nvGraphicFramePr>
        <p:xfrm>
          <a:off x="0" y="0"/>
          <a:ext cx="12192000" cy="6722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5886">
                  <a:extLst>
                    <a:ext uri="{9D8B030D-6E8A-4147-A177-3AD203B41FA5}">
                      <a16:colId xmlns:a16="http://schemas.microsoft.com/office/drawing/2014/main" val="1588404623"/>
                    </a:ext>
                  </a:extLst>
                </a:gridCol>
                <a:gridCol w="1121228">
                  <a:extLst>
                    <a:ext uri="{9D8B030D-6E8A-4147-A177-3AD203B41FA5}">
                      <a16:colId xmlns:a16="http://schemas.microsoft.com/office/drawing/2014/main" val="1350832536"/>
                    </a:ext>
                  </a:extLst>
                </a:gridCol>
                <a:gridCol w="2100943">
                  <a:extLst>
                    <a:ext uri="{9D8B030D-6E8A-4147-A177-3AD203B41FA5}">
                      <a16:colId xmlns:a16="http://schemas.microsoft.com/office/drawing/2014/main" val="796264124"/>
                    </a:ext>
                  </a:extLst>
                </a:gridCol>
                <a:gridCol w="3635829">
                  <a:extLst>
                    <a:ext uri="{9D8B030D-6E8A-4147-A177-3AD203B41FA5}">
                      <a16:colId xmlns:a16="http://schemas.microsoft.com/office/drawing/2014/main" val="1619749308"/>
                    </a:ext>
                  </a:extLst>
                </a:gridCol>
                <a:gridCol w="3418114">
                  <a:extLst>
                    <a:ext uri="{9D8B030D-6E8A-4147-A177-3AD203B41FA5}">
                      <a16:colId xmlns:a16="http://schemas.microsoft.com/office/drawing/2014/main" val="2563648975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561587"/>
                  </a:ext>
                </a:extLst>
              </a:tr>
              <a:tr h="885771">
                <a:tc>
                  <a:txBody>
                    <a:bodyPr/>
                    <a:lstStyle/>
                    <a:p>
                      <a:r>
                        <a:rPr lang="en-CN" dirty="0"/>
                        <a:t>Whisper</a:t>
                      </a:r>
                    </a:p>
                    <a:p>
                      <a:r>
                        <a:rPr lang="en-CN" dirty="0"/>
                        <a:t>Whisper-turbo 1550M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2022</a:t>
                      </a:r>
                      <a:r>
                        <a:rPr lang="en-CN" dirty="0"/>
                        <a:t>.Sep</a:t>
                      </a:r>
                    </a:p>
                    <a:p>
                      <a:r>
                        <a:rPr lang="en-CN" dirty="0"/>
                        <a:t>2022.Dec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Robust Speech Recognition via Large-Scale Weak Supervision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</a:t>
                      </a:r>
                      <a:r>
                        <a:rPr lang="en-US" dirty="0" err="1"/>
                        <a:t>arxiv.org</a:t>
                      </a:r>
                      <a:r>
                        <a:rPr lang="en-US" dirty="0"/>
                        <a:t>/pdf/2212.04356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44559"/>
                  </a:ext>
                </a:extLst>
              </a:tr>
              <a:tr h="1208315">
                <a:tc>
                  <a:txBody>
                    <a:bodyPr/>
                    <a:lstStyle/>
                    <a:p>
                      <a:r>
                        <a:rPr lang="en-CN" dirty="0"/>
                        <a:t>SenseVoice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Alibaba Group  </a:t>
                      </a:r>
                    </a:p>
                    <a:p>
                      <a:r>
                        <a:rPr lang="en-US" dirty="0" err="1"/>
                        <a:t>Tongyi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SpeechTeam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FunAudioLLM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Voice Understanding and Generation Foundation Models for Natural Interaction Between Humans and LLMs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/pdf/2407.04051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015123"/>
                  </a:ext>
                </a:extLst>
              </a:tr>
              <a:tr h="418433">
                <a:tc>
                  <a:txBody>
                    <a:bodyPr/>
                    <a:lstStyle/>
                    <a:p>
                      <a:r>
                        <a:rPr lang="en-CN" dirty="0"/>
                        <a:t>Qwen2-Audio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Alibaba</a:t>
                      </a:r>
                    </a:p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Qwen2-Audio Technical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/pdf/2407.10759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886527"/>
                  </a:ext>
                </a:extLst>
              </a:tr>
              <a:tr h="738539">
                <a:tc>
                  <a:txBody>
                    <a:bodyPr/>
                    <a:lstStyle/>
                    <a:p>
                      <a:r>
                        <a:rPr lang="en-CN" dirty="0"/>
                        <a:t>VibeVoice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7B</a:t>
                      </a:r>
                    </a:p>
                    <a:p>
                      <a:r>
                        <a:rPr lang="en-CN" dirty="0"/>
                        <a:t>VibeVoiceASR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2025</a:t>
                      </a:r>
                    </a:p>
                    <a:p>
                      <a:r>
                        <a:rPr lang="en-CN" dirty="0"/>
                        <a:t>2026 3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VibeVoice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Technical Report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VIBEVOICE-ASR Technical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https://arxiv.org/pdf/2508.19205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/pdf/2601.18184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130898"/>
                  </a:ext>
                </a:extLst>
              </a:tr>
              <a:tr h="526381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Step-Audio</a:t>
                      </a:r>
                      <a:endParaRPr lang="en-C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StepFun</a:t>
                      </a:r>
                      <a:r>
                        <a:rPr lang="en-US" dirty="0"/>
                        <a:t> Audio Team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dirty="0"/>
                        <a:t>Step-Audio 2 Technical </a:t>
                      </a:r>
                      <a:r>
                        <a:rPr lang="en-US" dirty="0" err="1"/>
                        <a:t>Repor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/pdf/2507.16632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449009"/>
                  </a:ext>
                </a:extLst>
              </a:tr>
              <a:tr h="738539">
                <a:tc>
                  <a:txBody>
                    <a:bodyPr/>
                    <a:lstStyle/>
                    <a:p>
                      <a:r>
                        <a:rPr lang="en-CN" dirty="0"/>
                        <a:t>Mimo-Audio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XiaoMi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MiMo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-Audio: Audio Language Models are Few-Shot Learners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/pdf/2512.23808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37027"/>
                  </a:ext>
                </a:extLst>
              </a:tr>
              <a:tr h="738539">
                <a:tc>
                  <a:txBody>
                    <a:bodyPr/>
                    <a:lstStyle/>
                    <a:p>
                      <a:r>
                        <a:rPr lang="en-CN" dirty="0"/>
                        <a:t>Moss-Transcribe-diarize 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0.9B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2026. 7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MOSI.AI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MOSS Transcribe Diarize Technical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/pdf/2601.01554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867409"/>
                  </a:ext>
                </a:extLst>
              </a:tr>
              <a:tr h="738539">
                <a:tc>
                  <a:txBody>
                    <a:bodyPr/>
                    <a:lstStyle/>
                    <a:p>
                      <a:r>
                        <a:rPr lang="en-CN" dirty="0"/>
                        <a:t>Qwen3-ASR </a:t>
                      </a:r>
                      <a:r>
                        <a:rPr lang="en-CN" dirty="0">
                          <a:highlight>
                            <a:srgbClr val="FFFF00"/>
                          </a:highlight>
                        </a:rPr>
                        <a:t>1.7B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2026.1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Qwen3-ASR Technical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arxiv.org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/pdf/2601.21337</a:t>
                      </a:r>
                      <a:endParaRPr lang="en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53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37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pproach">
            <a:extLst>
              <a:ext uri="{FF2B5EF4-FFF2-40B4-BE49-F238E27FC236}">
                <a16:creationId xmlns:a16="http://schemas.microsoft.com/office/drawing/2014/main" id="{A9A93014-F3B4-59E6-E92B-D6E3944AF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0"/>
            <a:ext cx="9050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F9C956-FBB2-A0B5-FA8F-8E847C8618C5}"/>
              </a:ext>
            </a:extLst>
          </p:cNvPr>
          <p:cNvSpPr txBox="1"/>
          <p:nvPr/>
        </p:nvSpPr>
        <p:spPr>
          <a:xfrm>
            <a:off x="0" y="0"/>
            <a:ext cx="16759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Robust Speech Recognition via Large-Scale Weak Supervision -2022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39128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E04EC2-61B3-C320-0859-CD00F4AAB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563" y="199372"/>
            <a:ext cx="8612874" cy="61595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8C6D2-2FE4-57DC-13AC-2B9AE33D4B4D}"/>
              </a:ext>
            </a:extLst>
          </p:cNvPr>
          <p:cNvSpPr txBox="1"/>
          <p:nvPr/>
        </p:nvSpPr>
        <p:spPr>
          <a:xfrm>
            <a:off x="-4548" y="0"/>
            <a:ext cx="27365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FunAudioLLM</a:t>
            </a:r>
            <a:r>
              <a:rPr lang="en-US" dirty="0">
                <a:highlight>
                  <a:srgbClr val="FFFF00"/>
                </a:highlight>
              </a:rPr>
              <a:t>: Voice Understanding and Generation Foundation Models for Natural Interaction Between Humans and LLMs   Alibaba Group -07-2024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112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A10055-A730-CC55-5976-3422901505A8}"/>
              </a:ext>
            </a:extLst>
          </p:cNvPr>
          <p:cNvSpPr txBox="1"/>
          <p:nvPr/>
        </p:nvSpPr>
        <p:spPr>
          <a:xfrm>
            <a:off x="-4548" y="0"/>
            <a:ext cx="37794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Qwen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lang="en-US" dirty="0">
                <a:highlight>
                  <a:srgbClr val="FFFF00"/>
                </a:highlight>
              </a:rPr>
              <a:t>-Audio Technical Report 2024-02-02   </a:t>
            </a:r>
          </a:p>
          <a:p>
            <a:r>
              <a:rPr lang="en-US" dirty="0"/>
              <a:t>Qwen2-Audio-7B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highlight>
                  <a:srgbClr val="FFFF00"/>
                </a:highlight>
              </a:rPr>
              <a:t>Generalization LALM </a:t>
            </a:r>
          </a:p>
          <a:p>
            <a:r>
              <a:rPr lang="en-US" dirty="0"/>
              <a:t>SLU(Spoken language understanding)</a:t>
            </a:r>
          </a:p>
          <a:p>
            <a:r>
              <a:rPr lang="en-US" dirty="0"/>
              <a:t>SER(Speech Emotion Recognition)</a:t>
            </a:r>
          </a:p>
          <a:p>
            <a:r>
              <a:rPr lang="en-US" dirty="0"/>
              <a:t>ASR(Audio Speech Recognition)</a:t>
            </a:r>
          </a:p>
          <a:p>
            <a:r>
              <a:rPr lang="en-US" dirty="0"/>
              <a:t>S2TT(Speech-to-Text Translation)</a:t>
            </a:r>
          </a:p>
          <a:p>
            <a:r>
              <a:rPr lang="en-US" dirty="0"/>
              <a:t>VSC(Vocal Sound Classification)</a:t>
            </a:r>
          </a:p>
          <a:p>
            <a:r>
              <a:rPr lang="en-US" dirty="0"/>
              <a:t>	</a:t>
            </a:r>
            <a:endParaRPr lang="en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396927-5FF6-A3DC-A06E-C9FCD9C8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53" y="920342"/>
            <a:ext cx="8134350" cy="549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2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0D641A-AF07-B686-FE9A-93EEC6B1BD1E}"/>
              </a:ext>
            </a:extLst>
          </p:cNvPr>
          <p:cNvSpPr txBox="1"/>
          <p:nvPr/>
        </p:nvSpPr>
        <p:spPr>
          <a:xfrm>
            <a:off x="-84300" y="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VIBEVOICE Technical Report -2025</a:t>
            </a:r>
            <a:endParaRPr lang="en-CN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448F70-C941-5962-66A8-F18C047D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45" y="433504"/>
            <a:ext cx="8785109" cy="599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3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0D641A-AF07-B686-FE9A-93EEC6B1BD1E}"/>
              </a:ext>
            </a:extLst>
          </p:cNvPr>
          <p:cNvSpPr txBox="1"/>
          <p:nvPr/>
        </p:nvSpPr>
        <p:spPr>
          <a:xfrm>
            <a:off x="94120" y="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VIBEVOICE-ASR Technical Report -14 March 2026</a:t>
            </a:r>
            <a:endParaRPr lang="en-CN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AD199-B181-94ED-DCB5-37264FFD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840" y="464626"/>
            <a:ext cx="9065248" cy="592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5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0D641A-AF07-B686-FE9A-93EEC6B1BD1E}"/>
              </a:ext>
            </a:extLst>
          </p:cNvPr>
          <p:cNvSpPr txBox="1"/>
          <p:nvPr/>
        </p:nvSpPr>
        <p:spPr>
          <a:xfrm>
            <a:off x="-95451" y="0"/>
            <a:ext cx="757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highlight>
                  <a:srgbClr val="FFFF00"/>
                </a:highlight>
                <a:latin typeface="system-ui"/>
              </a:rPr>
              <a:t>MiMo</a:t>
            </a:r>
            <a:r>
              <a:rPr lang="en-US" b="0" i="0" dirty="0">
                <a:effectLst/>
                <a:highlight>
                  <a:srgbClr val="FFFF00"/>
                </a:highlight>
                <a:latin typeface="system-ui"/>
              </a:rPr>
              <a:t>-Audio: Audio Language Models are Few-Shot Learners</a:t>
            </a:r>
            <a:r>
              <a:rPr lang="en-US" dirty="0">
                <a:highlight>
                  <a:srgbClr val="FFFF00"/>
                </a:highlight>
              </a:rPr>
              <a:t>-2025</a:t>
            </a:r>
            <a:endParaRPr lang="en-CN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21DE66-8199-D40F-EBE9-040359BA8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926" y="685635"/>
            <a:ext cx="10363820" cy="548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78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86C01-0386-EFBA-CB12-E79F7A44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29" y="796536"/>
            <a:ext cx="7942456" cy="4998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E1879-17B0-35B4-5A43-BD452660B9B3}"/>
              </a:ext>
            </a:extLst>
          </p:cNvPr>
          <p:cNvSpPr txBox="1"/>
          <p:nvPr/>
        </p:nvSpPr>
        <p:spPr>
          <a:xfrm>
            <a:off x="0" y="8854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Step-Audio 2 Technical Report</a:t>
            </a:r>
            <a:r>
              <a:rPr lang="zh-CN" altLang="en-US" dirty="0">
                <a:highlight>
                  <a:srgbClr val="FFFF00"/>
                </a:highlight>
              </a:rPr>
              <a:t>  </a:t>
            </a:r>
            <a:r>
              <a:rPr lang="en-US" altLang="zh-CN" dirty="0">
                <a:highlight>
                  <a:srgbClr val="FFFF00"/>
                </a:highlight>
              </a:rPr>
              <a:t>27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Aug 2025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61532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13FCA-E602-E157-6FCC-49082D86D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57" y="775108"/>
            <a:ext cx="9867034" cy="5307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85E32A-6E4F-FFA2-484C-20D62FF61AE6}"/>
              </a:ext>
            </a:extLst>
          </p:cNvPr>
          <p:cNvSpPr txBox="1"/>
          <p:nvPr/>
        </p:nvSpPr>
        <p:spPr>
          <a:xfrm>
            <a:off x="110837" y="967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MOSS-Audio Technical Report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8668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86C01-0386-EFBA-CB12-E79F7A44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29" y="796536"/>
            <a:ext cx="7942456" cy="4998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E1879-17B0-35B4-5A43-BD452660B9B3}"/>
              </a:ext>
            </a:extLst>
          </p:cNvPr>
          <p:cNvSpPr txBox="1"/>
          <p:nvPr/>
        </p:nvSpPr>
        <p:spPr>
          <a:xfrm>
            <a:off x="0" y="8854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Step-Audio 2 Technical Report</a:t>
            </a:r>
            <a:r>
              <a:rPr lang="zh-CN" altLang="en-US" dirty="0">
                <a:highlight>
                  <a:srgbClr val="FFFF00"/>
                </a:highlight>
              </a:rPr>
              <a:t>  </a:t>
            </a:r>
            <a:r>
              <a:rPr lang="en-US" altLang="zh-CN" dirty="0">
                <a:highlight>
                  <a:srgbClr val="FFFF00"/>
                </a:highlight>
              </a:rPr>
              <a:t>27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Aug 2025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48296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A10055-A730-CC55-5976-3422901505A8}"/>
              </a:ext>
            </a:extLst>
          </p:cNvPr>
          <p:cNvSpPr txBox="1"/>
          <p:nvPr/>
        </p:nvSpPr>
        <p:spPr>
          <a:xfrm>
            <a:off x="-4548" y="0"/>
            <a:ext cx="2736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Qwen3-ASR Technical Report 2026-02-02</a:t>
            </a:r>
            <a:endParaRPr lang="en-CN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71E30-0929-75B7-F3F5-A6604CE34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3" y="1361067"/>
            <a:ext cx="10159106" cy="459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4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50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321</Words>
  <Application>Microsoft Macintosh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system-ui</vt:lpstr>
      <vt:lpstr>Arial</vt:lpstr>
      <vt:lpstr>Calibri</vt:lpstr>
      <vt:lpstr>Calibri Light</vt:lpstr>
      <vt:lpstr>Helvetica Neue</vt:lpstr>
      <vt:lpstr>Office Theme</vt:lpstr>
      <vt:lpstr>ASR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106</cp:revision>
  <dcterms:created xsi:type="dcterms:W3CDTF">2026-08-28T07:43:46Z</dcterms:created>
  <dcterms:modified xsi:type="dcterms:W3CDTF">2026-08-30T13:36:02Z</dcterms:modified>
</cp:coreProperties>
</file>