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5" r:id="rId7"/>
    <p:sldId id="266" r:id="rId8"/>
    <p:sldId id="268" r:id="rId9"/>
    <p:sldId id="269" r:id="rId10"/>
    <p:sldId id="270" r:id="rId11"/>
    <p:sldId id="259" r:id="rId12"/>
    <p:sldId id="267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2"/>
  </p:normalViewPr>
  <p:slideViewPr>
    <p:cSldViewPr snapToGrid="0">
      <p:cViewPr>
        <p:scale>
          <a:sx n="92" d="100"/>
          <a:sy n="92" d="100"/>
        </p:scale>
        <p:origin x="132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CC52-C41B-1B58-F4A4-C35D12B5C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F5ED9-ECAD-1888-82E0-9AD86655B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4657D-9D31-B130-B199-96D2F971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C4C43-3C47-6C8B-9D5A-DDEDC8AC1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2D3DE-C652-B881-CD8B-D5FB44BA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8509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FA5EE-3E8E-07DE-0436-B71C5E1D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644B-FC6B-7197-E8AA-4BB562959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059E5-C46F-6955-7B45-7681F3FA4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D5F94-79BA-9D6A-31ED-7DFE3C9F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15A8F-F393-C976-03F3-E990DE14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149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0836-4BFE-BBDA-5B1F-3F403291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7E7B8-0BC9-7772-E9C7-AD0221F3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8D72C-A44B-C455-0F2C-ED6B0D16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969CD-35F1-88F8-11D2-A2B1EC8C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7B395-CD45-2E2A-1550-CA7DC1BD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874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2E0E-2C81-7FCF-81EC-E9F0AB20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FA86B-37A7-6D9C-BFB0-E19953C39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2ADA5-15A7-4F1D-4C81-51862A7B1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F1207-3265-C125-5295-57F0C9B57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5E850-2FDC-E40C-849E-7B3EBCA59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7A768-B394-E7EE-F81C-25F4AAE2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4400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083B-8F39-0FF7-2320-0575E30E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FD9AA-67EB-C82D-3001-08B7CA754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18DD3-9477-5BA3-5D08-E2923BC6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9FA2C-9032-6377-32CD-78689F290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853D4-ADFC-825F-A768-8A06696CC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8352C-EDA9-A9A5-0493-67D6A957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8FCF73-8039-F3CA-7761-F4389D067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93E84-DB4B-3DFE-E729-FC5C20BF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460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96371-25DB-20BF-9996-5FE7A570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320D3-04E6-093E-F1A1-3AFD60EC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521F7-7244-05F8-FD0A-17EB5200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9335B-49E8-FB72-2B60-1ABF2682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5112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FDAFF5-97C4-B825-EB14-DE7D79EC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59F62-F82F-16B8-3750-F5FDF8C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3EA6F-ACF3-F4FA-6843-05FB6A63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544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9060-32B5-0F04-215C-FFB1BFABE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B8919-2EE4-7C10-0DD0-D17433DB3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3AC86-D814-619D-E40F-AAB4D460A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0D20C-C7C9-B92C-D81F-580AA24D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82B2A-B335-E653-41C3-14FCD1BB4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48B5E-596A-43F4-2B31-5CB4797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453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F850-46DE-A691-FC5B-DC418F91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DC0E3D-7A39-6E9F-547F-C154BF450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BE1AD-B509-7127-7A49-D7C6CC050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7FBAD-CC0D-A241-E530-62B88CA4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B42A-0834-1533-2E56-82D88D9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8C49-0837-3552-1699-7BAF5960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302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F492-9207-8760-549B-9DE661BA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80697-675D-9B6B-E8B1-88FD78A0C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FADA5-9FC2-C986-8D78-DA0A5766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1C933-EDF7-722F-E3D1-AD1137F1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89A96-CE9D-D0A3-F188-F0015023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015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2E59D-E8AB-BDD6-D1DE-DED5EFAF8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7BE9D-15D9-4937-FAB2-585C6D17F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1980A-2AC3-AD68-A8BE-9224BEEA3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7C47A-789C-6BE9-3076-A7FFD9AC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DC745-3F71-6B77-02C7-512C16F3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271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4DB3C8-7867-661A-D5DC-841CCCC8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8BC23-0B1D-3C7A-01D3-5E5496ACA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0018-90B8-1251-B867-6F006AC37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E291B-FB75-0841-9289-81F483BE6535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C565F-9478-A2FE-56C8-5880E70BB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B2F89-AD24-F2EB-9226-AE99EF44F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24190-5CEC-2647-A670-78C679B0D42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8125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1.06066" TargetMode="External"/><Relationship Id="rId2" Type="http://schemas.openxmlformats.org/officeDocument/2006/relationships/hyperlink" Target="https://arxiv.org/pdf/2401.02954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xiv.org/pdf/2405.04434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1.14196" TargetMode="External"/><Relationship Id="rId2" Type="http://schemas.openxmlformats.org/officeDocument/2006/relationships/hyperlink" Target="https://arxiv.org/pdf/2412.19437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pdf/2406.1193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12.08935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rxiv.org/pdf/2402.03300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n-lang.org/about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3661-E0BD-ECC5-F62B-4012266A34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>
                <a:highlight>
                  <a:srgbClr val="FFFF00"/>
                </a:highlight>
              </a:rPr>
              <a:t>DeepSeek-Series-Paper</a:t>
            </a:r>
          </a:p>
        </p:txBody>
      </p:sp>
    </p:spTree>
    <p:extLst>
      <p:ext uri="{BB962C8B-B14F-4D97-AF65-F5344CB8AC3E}">
        <p14:creationId xmlns:p14="http://schemas.microsoft.com/office/powerpoint/2010/main" val="4041675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E7532D-B73E-4F11-DB77-C94D85A332CC}"/>
              </a:ext>
            </a:extLst>
          </p:cNvPr>
          <p:cNvSpPr txBox="1"/>
          <p:nvPr/>
        </p:nvSpPr>
        <p:spPr>
          <a:xfrm>
            <a:off x="0" y="0"/>
            <a:ext cx="1232703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Foundation Model: </a:t>
            </a:r>
          </a:p>
          <a:p>
            <a:pPr marL="342900" indent="-342900"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2024-01: </a:t>
            </a:r>
            <a:r>
              <a:rPr lang="en-US" dirty="0" err="1"/>
              <a:t>DeepSeek</a:t>
            </a:r>
            <a:r>
              <a:rPr lang="en-US" dirty="0"/>
              <a:t> LLM Scaling Open-Source Language Models with </a:t>
            </a:r>
            <a:r>
              <a:rPr lang="en-US" dirty="0" err="1"/>
              <a:t>Longtermism</a:t>
            </a:r>
            <a:r>
              <a:rPr lang="en-US" dirty="0"/>
              <a:t>(</a:t>
            </a:r>
            <a:r>
              <a:rPr lang="en-US" dirty="0">
                <a:highlight>
                  <a:srgbClr val="00FF00"/>
                </a:highlight>
              </a:rPr>
              <a:t>Reproducing Meta </a:t>
            </a:r>
            <a:r>
              <a:rPr lang="en-US" dirty="0" err="1">
                <a:highlight>
                  <a:srgbClr val="00FF00"/>
                </a:highlight>
              </a:rPr>
              <a:t>LLaMa</a:t>
            </a:r>
            <a:r>
              <a:rPr lang="en-US" dirty="0"/>
              <a:t>)</a:t>
            </a:r>
          </a:p>
          <a:p>
            <a:pPr marL="342900" indent="-342900">
              <a:buFontTx/>
              <a:buAutoNum type="arabicPeriod"/>
            </a:pPr>
            <a:r>
              <a:rPr lang="en-CN" dirty="0">
                <a:highlight>
                  <a:srgbClr val="FFFF00"/>
                </a:highlight>
              </a:rPr>
              <a:t>2024-05:</a:t>
            </a:r>
            <a:r>
              <a:rPr lang="en-US" b="1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DeepSeek-V2</a:t>
            </a:r>
            <a:r>
              <a:rPr lang="en-US" dirty="0"/>
              <a:t>(236B, Activated 21B): A Strong, Economical, and Efficient </a:t>
            </a:r>
            <a:r>
              <a:rPr lang="en-US" dirty="0">
                <a:highlight>
                  <a:srgbClr val="00FF00"/>
                </a:highlight>
              </a:rPr>
              <a:t>Mixture-of-Experts</a:t>
            </a:r>
            <a:r>
              <a:rPr lang="en-US" dirty="0"/>
              <a:t> Language Model(MHA, Low-Rank Key Value Joint Compression )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2024-12: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val-sans"/>
              </a:rPr>
              <a:t>DeepSeek-V3</a:t>
            </a:r>
            <a:r>
              <a:rPr lang="en-US" b="0" i="0" dirty="0">
                <a:solidFill>
                  <a:srgbClr val="000000"/>
                </a:solidFill>
                <a:effectLst/>
                <a:latin typeface="rival-sans"/>
              </a:rPr>
              <a:t>(671B 37B Activated 1 + 256) Technical Report(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rival-sans"/>
              </a:rPr>
              <a:t>MTP</a:t>
            </a:r>
            <a:r>
              <a:rPr lang="en-US" b="0" i="0" dirty="0">
                <a:solidFill>
                  <a:srgbClr val="000000"/>
                </a:solidFill>
                <a:effectLst/>
                <a:latin typeface="rival-sans"/>
              </a:rPr>
              <a:t> + Speculative Decoding +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rival-sans"/>
              </a:rPr>
              <a:t>FP8 mixed precision </a:t>
            </a:r>
            <a:r>
              <a:rPr lang="en-US" b="0" i="0" dirty="0">
                <a:solidFill>
                  <a:srgbClr val="000000"/>
                </a:solidFill>
                <a:effectLst/>
                <a:latin typeface="rival-sans"/>
              </a:rPr>
              <a:t>training + RL(Rule-Based RM + Model-Based RM))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0000"/>
                </a:highlight>
                <a:latin typeface="rival-sans"/>
              </a:rPr>
              <a:t>Reasoning Model:</a:t>
            </a:r>
          </a:p>
          <a:p>
            <a:r>
              <a:rPr lang="en-US" dirty="0">
                <a:solidFill>
                  <a:srgbClr val="000000"/>
                </a:solidFill>
                <a:latin typeface="rival-sans"/>
              </a:rPr>
              <a:t>4.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rival-sans"/>
              </a:rPr>
              <a:t>2024-01: </a:t>
            </a:r>
            <a:r>
              <a:rPr lang="en-US" dirty="0" err="1">
                <a:highlight>
                  <a:srgbClr val="FFFF00"/>
                </a:highlight>
              </a:rPr>
              <a:t>DeepSeek</a:t>
            </a:r>
            <a:r>
              <a:rPr lang="en-US" dirty="0">
                <a:highlight>
                  <a:srgbClr val="FFFF00"/>
                </a:highlight>
              </a:rPr>
              <a:t>-Coder</a:t>
            </a:r>
            <a:r>
              <a:rPr lang="en-US" dirty="0"/>
              <a:t>: When the Large Language Model Meets Programming - The Rise of Code Intelligence</a:t>
            </a:r>
            <a:endParaRPr lang="en-US" dirty="0">
              <a:solidFill>
                <a:srgbClr val="000000"/>
              </a:solidFill>
              <a:latin typeface="rival-sans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ival-sans"/>
              </a:rPr>
              <a:t>5.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val-sans"/>
              </a:rPr>
              <a:t>2024-02: </a:t>
            </a:r>
            <a:r>
              <a:rPr lang="en-US" dirty="0">
                <a:highlight>
                  <a:srgbClr val="FFFF00"/>
                </a:highlight>
              </a:rPr>
              <a:t>MATH-SHEPHERD</a:t>
            </a:r>
            <a:r>
              <a:rPr lang="en-US" dirty="0"/>
              <a:t>: VERIFY AND REINFORCE LLMS STEP-BY-STEP WITHOUT HUMAN ANNOTATIONS(</a:t>
            </a:r>
            <a:r>
              <a:rPr lang="en-US" dirty="0">
                <a:highlight>
                  <a:srgbClr val="00FF00"/>
                </a:highlight>
              </a:rPr>
              <a:t>PRM</a:t>
            </a:r>
            <a:r>
              <a:rPr lang="en-US" dirty="0"/>
              <a:t> Test Time Scaling)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ival-sans"/>
              </a:rPr>
              <a:t>6.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val-sans"/>
              </a:rPr>
              <a:t>2024-04: </a:t>
            </a:r>
            <a:r>
              <a:rPr lang="en-US" dirty="0" err="1">
                <a:highlight>
                  <a:srgbClr val="FFFF00"/>
                </a:highlight>
              </a:rPr>
              <a:t>DeepSeekMath</a:t>
            </a:r>
            <a:r>
              <a:rPr lang="en-US" dirty="0"/>
              <a:t>: Pushing the Limits of Mathematical Reasoning in Open Language Models(</a:t>
            </a:r>
            <a:r>
              <a:rPr lang="en-US" dirty="0">
                <a:highlight>
                  <a:srgbClr val="00FF00"/>
                </a:highlight>
              </a:rPr>
              <a:t>RL: GRPO</a:t>
            </a:r>
            <a:r>
              <a:rPr lang="en-US" dirty="0"/>
              <a:t>)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rival-sans"/>
              </a:rPr>
              <a:t>7.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val-sans"/>
              </a:rPr>
              <a:t>2024-05: </a:t>
            </a:r>
            <a:r>
              <a:rPr lang="en-US" dirty="0" err="1">
                <a:highlight>
                  <a:srgbClr val="FFFF00"/>
                </a:highlight>
              </a:rPr>
              <a:t>DeepSeek</a:t>
            </a:r>
            <a:r>
              <a:rPr lang="en-US" dirty="0">
                <a:highlight>
                  <a:srgbClr val="FFFF00"/>
                </a:highlight>
              </a:rPr>
              <a:t>-Prover</a:t>
            </a:r>
            <a:r>
              <a:rPr lang="en-US" dirty="0"/>
              <a:t>: Advancing Theorem Proving in LLMs through Large-Scale Synthetic Data(</a:t>
            </a:r>
            <a:r>
              <a:rPr lang="en-US" dirty="0">
                <a:highlight>
                  <a:srgbClr val="00FF00"/>
                </a:highlight>
              </a:rPr>
              <a:t>Lean</a:t>
            </a:r>
            <a:r>
              <a:rPr lang="en-US" dirty="0"/>
              <a:t> Math proof </a:t>
            </a:r>
            <a:r>
              <a:rPr lang="en-US" dirty="0" err="1"/>
              <a:t>verfication</a:t>
            </a:r>
            <a:r>
              <a:rPr lang="en-US" dirty="0"/>
              <a:t>)</a:t>
            </a:r>
          </a:p>
          <a:p>
            <a:r>
              <a:rPr lang="en-US" dirty="0"/>
              <a:t>8. </a:t>
            </a:r>
            <a:r>
              <a:rPr lang="en-US" dirty="0">
                <a:highlight>
                  <a:srgbClr val="FFFF00"/>
                </a:highlight>
              </a:rPr>
              <a:t>2025-07:  DeepSeek-Prover-V2(</a:t>
            </a:r>
            <a:r>
              <a:rPr lang="en-US" dirty="0"/>
              <a:t>671B</a:t>
            </a:r>
            <a:r>
              <a:rPr lang="en-US" dirty="0">
                <a:highlight>
                  <a:srgbClr val="FFFF00"/>
                </a:highlight>
              </a:rPr>
              <a:t>)</a:t>
            </a:r>
            <a:r>
              <a:rPr lang="en-US" dirty="0"/>
              <a:t>: Advancing Formal Mathematical Reasoning via Reinforcement Learning for Subgoal Decomposition(Lean 4)</a:t>
            </a:r>
          </a:p>
          <a:p>
            <a:r>
              <a:rPr lang="en-US" dirty="0"/>
              <a:t>9. </a:t>
            </a:r>
            <a:r>
              <a:rPr lang="en-US" dirty="0">
                <a:highlight>
                  <a:srgbClr val="FFFF00"/>
                </a:highlight>
              </a:rPr>
              <a:t>2025-01</a:t>
            </a:r>
            <a:r>
              <a:rPr lang="en-US" dirty="0"/>
              <a:t>: DeepSeek-R1: Incentivizing Reasoning Capability in LLMs via Reinforcement Learning</a:t>
            </a:r>
          </a:p>
          <a:p>
            <a:r>
              <a:rPr lang="en-US" dirty="0"/>
              <a:t>10. </a:t>
            </a:r>
            <a:r>
              <a:rPr lang="en-US" dirty="0">
                <a:highlight>
                  <a:srgbClr val="FFFF00"/>
                </a:highlight>
              </a:rPr>
              <a:t>2025-12</a:t>
            </a:r>
            <a:r>
              <a:rPr lang="en-US" dirty="0"/>
              <a:t>: DeepSeek-V3.2: Pushing the Frontier of Open Large Language Models(</a:t>
            </a:r>
            <a:r>
              <a:rPr lang="en-US" dirty="0" err="1"/>
              <a:t>DeepSeek</a:t>
            </a:r>
            <a:r>
              <a:rPr lang="en-US" dirty="0"/>
              <a:t> Sparse Attention (</a:t>
            </a:r>
            <a:r>
              <a:rPr lang="en-US" dirty="0">
                <a:highlight>
                  <a:srgbClr val="00FF00"/>
                </a:highlight>
              </a:rPr>
              <a:t>DSA</a:t>
            </a:r>
            <a:r>
              <a:rPr lang="en-US" dirty="0"/>
              <a:t>))</a:t>
            </a:r>
          </a:p>
          <a:p>
            <a:r>
              <a:rPr lang="en-US" dirty="0"/>
              <a:t>11. </a:t>
            </a:r>
            <a:r>
              <a:rPr lang="en-US" dirty="0">
                <a:highlight>
                  <a:srgbClr val="FFFF00"/>
                </a:highlight>
              </a:rPr>
              <a:t>2026-01</a:t>
            </a:r>
            <a:r>
              <a:rPr lang="en-US" dirty="0"/>
              <a:t>: </a:t>
            </a:r>
            <a:r>
              <a:rPr lang="en-US" dirty="0" err="1">
                <a:highlight>
                  <a:srgbClr val="00FF00"/>
                </a:highlight>
              </a:rPr>
              <a:t>mHC</a:t>
            </a:r>
            <a:r>
              <a:rPr lang="en-US" dirty="0"/>
              <a:t>: Manifold-Constrained Hyper-Connections</a:t>
            </a:r>
          </a:p>
          <a:p>
            <a:r>
              <a:rPr lang="en-US" dirty="0"/>
              <a:t>12. 2026-01: Conditional Memory via Scalable Lookup: A New Axis of Sparsity for Large Language Models(</a:t>
            </a:r>
            <a:r>
              <a:rPr lang="en-US" dirty="0">
                <a:highlight>
                  <a:srgbClr val="00FF00"/>
                </a:highlight>
              </a:rPr>
              <a:t>Engram/DSE</a:t>
            </a:r>
            <a:r>
              <a:rPr lang="en-US" dirty="0"/>
              <a:t>)</a:t>
            </a:r>
          </a:p>
          <a:p>
            <a:r>
              <a:rPr lang="en-US" dirty="0"/>
              <a:t>13.</a:t>
            </a:r>
            <a:r>
              <a:rPr lang="en-US" dirty="0">
                <a:highlight>
                  <a:srgbClr val="FFFF00"/>
                </a:highlight>
              </a:rPr>
              <a:t>2026-04</a:t>
            </a:r>
            <a:r>
              <a:rPr lang="en-US" dirty="0"/>
              <a:t>: DeepSeek-V4(1.6T 49B): Towards Highly Efficient Million-Token Context Intelligence</a:t>
            </a:r>
            <a:endParaRPr lang="en-US" b="0" i="0" dirty="0">
              <a:solidFill>
                <a:srgbClr val="000000"/>
              </a:solidFill>
              <a:effectLst/>
              <a:latin typeface="rival-sans"/>
            </a:endParaRPr>
          </a:p>
          <a:p>
            <a:pPr marL="342900" indent="-342900">
              <a:buFontTx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rival-sans"/>
            </a:endParaRPr>
          </a:p>
          <a:p>
            <a:pPr marL="342900" indent="-342900">
              <a:buFontTx/>
              <a:buAutoNum type="arabicPeriod"/>
            </a:pPr>
            <a:endParaRPr lang="en-US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3433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1DB11D-B399-D4E2-F8AE-B778DDDA740C}"/>
              </a:ext>
            </a:extLst>
          </p:cNvPr>
          <p:cNvSpPr txBox="1"/>
          <p:nvPr/>
        </p:nvSpPr>
        <p:spPr>
          <a:xfrm>
            <a:off x="164939" y="102088"/>
            <a:ext cx="118608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highlight>
                  <a:srgbClr val="FFFF00"/>
                </a:highlight>
              </a:rPr>
              <a:t>DeepSeek</a:t>
            </a:r>
            <a:r>
              <a:rPr lang="en-US" altLang="zh-CN" sz="2000" b="1" dirty="0">
                <a:highlight>
                  <a:srgbClr val="FFFF00"/>
                </a:highlight>
              </a:rPr>
              <a:t> LLM 2024-01 : </a:t>
            </a:r>
            <a:r>
              <a:rPr lang="en-US" altLang="zh-CN" sz="2000" b="1" dirty="0">
                <a:highlight>
                  <a:srgbClr val="FFFF00"/>
                </a:highlight>
                <a:hlinkClick r:id="rId2"/>
              </a:rPr>
              <a:t>https://arxiv.org/pdf/2401.02954</a:t>
            </a:r>
            <a:r>
              <a:rPr lang="en-US" altLang="zh-CN" sz="2000" b="1" dirty="0">
                <a:highlight>
                  <a:srgbClr val="FFFF00"/>
                </a:highlight>
              </a:rPr>
              <a:t> </a:t>
            </a:r>
            <a:r>
              <a:rPr lang="zh-CN" altLang="en-US" sz="2000" b="1" dirty="0">
                <a:highlight>
                  <a:srgbClr val="FFFF00"/>
                </a:highlight>
              </a:rPr>
              <a:t>本文是对</a:t>
            </a:r>
            <a:r>
              <a:rPr lang="en-US" sz="2000" b="1" dirty="0">
                <a:highlight>
                  <a:srgbClr val="FFFF00"/>
                </a:highlight>
              </a:rPr>
              <a:t>meta llama2 </a:t>
            </a:r>
            <a:r>
              <a:rPr lang="zh-CN" altLang="en-US" sz="2000" b="1" dirty="0">
                <a:highlight>
                  <a:srgbClr val="FFFF00"/>
                </a:highlight>
              </a:rPr>
              <a:t>的复现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数据与</a:t>
            </a:r>
            <a:r>
              <a:rPr lang="en-US" dirty="0">
                <a:effectLst/>
              </a:rPr>
              <a:t>llama2</a:t>
            </a:r>
            <a:r>
              <a:rPr lang="zh-CN" altLang="en-US" dirty="0">
                <a:effectLst/>
              </a:rPr>
              <a:t>不太一样，</a:t>
            </a:r>
            <a:r>
              <a:rPr lang="en-US" dirty="0" err="1">
                <a:effectLst/>
              </a:rPr>
              <a:t>deepseek</a:t>
            </a:r>
            <a:r>
              <a:rPr lang="zh-CN" altLang="en-US" dirty="0">
                <a:effectLst/>
              </a:rPr>
              <a:t>主要以中文为主。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整个模型结构、包括一些</a:t>
            </a:r>
            <a:r>
              <a:rPr lang="en-US" dirty="0">
                <a:effectLst/>
              </a:rPr>
              <a:t>fine-tuning</a:t>
            </a:r>
            <a:r>
              <a:rPr lang="zh-CN" altLang="en-US" dirty="0">
                <a:effectLst/>
              </a:rPr>
              <a:t>的方法跟</a:t>
            </a:r>
            <a:r>
              <a:rPr lang="en-US" dirty="0">
                <a:effectLst/>
              </a:rPr>
              <a:t>llama2</a:t>
            </a:r>
            <a:r>
              <a:rPr lang="zh-CN" altLang="en-US" dirty="0">
                <a:effectLst/>
              </a:rPr>
              <a:t>一致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模型的</a:t>
            </a:r>
            <a:r>
              <a:rPr lang="en-US" altLang="zh-CN" dirty="0">
                <a:effectLst/>
              </a:rPr>
              <a:t>7</a:t>
            </a:r>
            <a:r>
              <a:rPr lang="en-US" dirty="0">
                <a:effectLst/>
              </a:rPr>
              <a:t>B、67B</a:t>
            </a:r>
            <a:r>
              <a:rPr lang="zh-CN" altLang="en-US" dirty="0">
                <a:effectLst/>
              </a:rPr>
              <a:t>的参数量也是对标的</a:t>
            </a:r>
            <a:r>
              <a:rPr lang="en-US" dirty="0">
                <a:effectLst/>
              </a:rPr>
              <a:t>llama2 </a:t>
            </a:r>
            <a:r>
              <a:rPr lang="zh-CN" altLang="en-US" dirty="0">
                <a:effectLst/>
              </a:rPr>
              <a:t>的</a:t>
            </a:r>
            <a:r>
              <a:rPr lang="en-US" altLang="zh-CN" dirty="0">
                <a:effectLst/>
              </a:rPr>
              <a:t>7</a:t>
            </a:r>
            <a:r>
              <a:rPr lang="en-US" dirty="0">
                <a:effectLst/>
              </a:rPr>
              <a:t>B、70B</a:t>
            </a:r>
            <a:r>
              <a:rPr lang="zh-CN" altLang="en-US" dirty="0">
                <a:effectLst/>
              </a:rPr>
              <a:t>两种参数的模型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scaling laws </a:t>
            </a:r>
            <a:r>
              <a:rPr lang="zh-CN" altLang="en-US" dirty="0"/>
              <a:t>超参数研究：对</a:t>
            </a:r>
            <a:r>
              <a:rPr lang="en-US" dirty="0"/>
              <a:t>scaling law</a:t>
            </a:r>
            <a:r>
              <a:rPr lang="zh-CN" altLang="en-US" dirty="0"/>
              <a:t>做了更精细的研究并提出一个新的公式（很多其他公司或论文就直接用经验值）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诚实讲刷榜的问题：只要给大模型喂题，大模型对应的榜单分数会高出一大截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BE3E4-18BF-0371-07C6-91B46B96ABF1}"/>
              </a:ext>
            </a:extLst>
          </p:cNvPr>
          <p:cNvSpPr txBox="1"/>
          <p:nvPr/>
        </p:nvSpPr>
        <p:spPr>
          <a:xfrm>
            <a:off x="95666" y="2138706"/>
            <a:ext cx="120963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highlight>
                  <a:srgbClr val="FFFF00"/>
                </a:highlight>
              </a:rPr>
              <a:t>DeepSeek</a:t>
            </a:r>
            <a:r>
              <a:rPr lang="en-US" altLang="zh-CN" sz="2000" b="1" dirty="0">
                <a:highlight>
                  <a:srgbClr val="FFFF00"/>
                </a:highlight>
              </a:rPr>
              <a:t> </a:t>
            </a:r>
            <a:r>
              <a:rPr lang="en-US" altLang="zh-CN" sz="2000" b="1" dirty="0" err="1">
                <a:highlight>
                  <a:srgbClr val="FFFF00"/>
                </a:highlight>
              </a:rPr>
              <a:t>MoE</a:t>
            </a:r>
            <a:r>
              <a:rPr lang="en-US" altLang="zh-CN" sz="2000" b="1" dirty="0">
                <a:highlight>
                  <a:srgbClr val="FFFF00"/>
                </a:highlight>
              </a:rPr>
              <a:t> 2024-01 </a:t>
            </a:r>
            <a:r>
              <a:rPr lang="en-US" altLang="zh-CN" sz="2000" b="1" dirty="0">
                <a:highlight>
                  <a:srgbClr val="FFFF00"/>
                </a:highlight>
                <a:hlinkClick r:id="rId3"/>
              </a:rPr>
              <a:t>https://arxiv.org/pdf/2401.06066</a:t>
            </a:r>
            <a:r>
              <a:rPr lang="en-US" altLang="zh-CN" sz="2000" b="1" dirty="0">
                <a:highlight>
                  <a:srgbClr val="FFFF00"/>
                </a:highlight>
              </a:rPr>
              <a:t>   Dense Model: </a:t>
            </a:r>
            <a:r>
              <a:rPr lang="en-US" altLang="zh-CN" sz="2000" b="1" dirty="0" err="1">
                <a:highlight>
                  <a:srgbClr val="FFFF00"/>
                </a:highlight>
              </a:rPr>
              <a:t>MoE</a:t>
            </a:r>
            <a:r>
              <a:rPr lang="en-US" altLang="zh-CN" sz="2000" b="1" dirty="0">
                <a:highlight>
                  <a:srgbClr val="FFFF00"/>
                </a:highlight>
              </a:rPr>
              <a:t> </a:t>
            </a:r>
            <a:endParaRPr lang="zh-CN" altLang="en-US" sz="2000" b="1" dirty="0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dense model </a:t>
            </a:r>
            <a:r>
              <a:rPr lang="zh-CN" altLang="en-US" dirty="0"/>
              <a:t>和 </a:t>
            </a:r>
            <a:r>
              <a:rPr lang="en-US" dirty="0" err="1"/>
              <a:t>MoE</a:t>
            </a:r>
            <a:r>
              <a:rPr lang="zh-CN" altLang="en-US" dirty="0"/>
              <a:t>的区别：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dense model </a:t>
            </a:r>
            <a:r>
              <a:rPr lang="zh-CN" altLang="en-US" dirty="0">
                <a:effectLst/>
              </a:rPr>
              <a:t>普通的</a:t>
            </a:r>
            <a:r>
              <a:rPr lang="en-US" dirty="0">
                <a:effectLst/>
              </a:rPr>
              <a:t>transformer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MoE</a:t>
            </a:r>
            <a:r>
              <a:rPr lang="en-US" dirty="0">
                <a:effectLst/>
              </a:rPr>
              <a:t> transformer</a:t>
            </a:r>
            <a:r>
              <a:rPr lang="zh-CN" altLang="en-US" dirty="0">
                <a:effectLst/>
              </a:rPr>
              <a:t>的神经网络分成好几份，每一份都是一个专家，一个问题过来，只用对应的专家，又叫稀疏模型。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MoE</a:t>
            </a:r>
            <a:r>
              <a:rPr lang="zh-CN" altLang="en-US" dirty="0">
                <a:effectLst/>
              </a:rPr>
              <a:t>带来成本的下降，模型可以训很大，但是使用时只用激活部分参数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这篇文章是一个</a:t>
            </a:r>
            <a:r>
              <a:rPr lang="en-US" dirty="0">
                <a:effectLst/>
              </a:rPr>
              <a:t>study，</a:t>
            </a:r>
            <a:r>
              <a:rPr lang="zh-CN" altLang="en-US" dirty="0">
                <a:effectLst/>
              </a:rPr>
              <a:t>相当于为</a:t>
            </a:r>
            <a:r>
              <a:rPr lang="en-US" dirty="0" err="1">
                <a:effectLst/>
              </a:rPr>
              <a:t>deepseek</a:t>
            </a:r>
            <a:r>
              <a:rPr lang="en-US" dirty="0">
                <a:effectLst/>
              </a:rPr>
              <a:t> v2</a:t>
            </a:r>
            <a:r>
              <a:rPr lang="zh-CN" altLang="en-US" dirty="0">
                <a:effectLst/>
              </a:rPr>
              <a:t>铺路，文章里面只完全训练了一个</a:t>
            </a:r>
            <a:r>
              <a:rPr lang="en-US" altLang="zh-CN" dirty="0">
                <a:effectLst/>
              </a:rPr>
              <a:t>2</a:t>
            </a:r>
            <a:r>
              <a:rPr lang="en-US" dirty="0">
                <a:effectLst/>
              </a:rPr>
              <a:t>B,16B</a:t>
            </a:r>
            <a:r>
              <a:rPr lang="zh-CN" altLang="en-US" dirty="0">
                <a:effectLst/>
              </a:rPr>
              <a:t>的模型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创新点：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之前的</a:t>
            </a:r>
            <a:r>
              <a:rPr lang="en-US" dirty="0" err="1">
                <a:effectLst/>
              </a:rPr>
              <a:t>MoE</a:t>
            </a:r>
            <a:r>
              <a:rPr lang="zh-CN" altLang="en-US" dirty="0">
                <a:effectLst/>
              </a:rPr>
              <a:t>只有</a:t>
            </a:r>
            <a:r>
              <a:rPr lang="en-US" altLang="zh-CN" dirty="0">
                <a:effectLst/>
              </a:rPr>
              <a:t>8</a:t>
            </a:r>
            <a:r>
              <a:rPr lang="zh-CN" altLang="en-US" dirty="0">
                <a:effectLst/>
              </a:rPr>
              <a:t>或</a:t>
            </a:r>
            <a:r>
              <a:rPr lang="en-US" altLang="zh-CN" dirty="0">
                <a:effectLst/>
              </a:rPr>
              <a:t>16</a:t>
            </a:r>
            <a:r>
              <a:rPr lang="zh-CN" altLang="en-US" dirty="0">
                <a:effectLst/>
              </a:rPr>
              <a:t>个专家（不同的专家区分不明显），但是</a:t>
            </a:r>
            <a:r>
              <a:rPr lang="en-US" dirty="0" err="1">
                <a:effectLst/>
              </a:rPr>
              <a:t>deepseek</a:t>
            </a:r>
            <a:r>
              <a:rPr lang="zh-CN" altLang="en-US" dirty="0">
                <a:effectLst/>
              </a:rPr>
              <a:t>的专家分得更细，本篇用了</a:t>
            </a:r>
            <a:r>
              <a:rPr lang="en-US" altLang="zh-CN" dirty="0">
                <a:effectLst/>
              </a:rPr>
              <a:t>64</a:t>
            </a:r>
            <a:r>
              <a:rPr lang="zh-CN" altLang="en-US" dirty="0">
                <a:effectLst/>
              </a:rPr>
              <a:t>个</a:t>
            </a:r>
            <a:r>
              <a:rPr lang="en-US" dirty="0">
                <a:effectLst/>
              </a:rPr>
              <a:t>expert，</a:t>
            </a:r>
            <a:r>
              <a:rPr lang="zh-CN" altLang="en-US" dirty="0">
                <a:effectLst/>
              </a:rPr>
              <a:t>更稀疏，且每个专家更细粒度。之前的</a:t>
            </a:r>
            <a:r>
              <a:rPr lang="en-US" dirty="0" err="1">
                <a:effectLst/>
              </a:rPr>
              <a:t>MoE</a:t>
            </a:r>
            <a:r>
              <a:rPr lang="en-US" dirty="0">
                <a:effectLst/>
              </a:rPr>
              <a:t>，</a:t>
            </a:r>
            <a:r>
              <a:rPr lang="zh-CN" altLang="en-US" dirty="0">
                <a:effectLst/>
              </a:rPr>
              <a:t>每个专家都要学很多东西，每个专家区分不明显；</a:t>
            </a:r>
            <a:r>
              <a:rPr lang="en-US" dirty="0" err="1">
                <a:effectLst/>
              </a:rPr>
              <a:t>deepseek</a:t>
            </a:r>
            <a:r>
              <a:rPr lang="zh-CN" altLang="en-US" dirty="0">
                <a:effectLst/>
              </a:rPr>
              <a:t>专家更细粒度。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同时</a:t>
            </a:r>
            <a:r>
              <a:rPr lang="en-US" dirty="0" err="1">
                <a:effectLst/>
              </a:rPr>
              <a:t>deepseek</a:t>
            </a:r>
            <a:r>
              <a:rPr lang="zh-CN" altLang="en-US" dirty="0">
                <a:effectLst/>
              </a:rPr>
              <a:t>还设置了</a:t>
            </a:r>
            <a:r>
              <a:rPr lang="en-US" dirty="0">
                <a:effectLst/>
              </a:rPr>
              <a:t>share</a:t>
            </a:r>
            <a:r>
              <a:rPr lang="zh-CN" altLang="en-US" dirty="0">
                <a:effectLst/>
              </a:rPr>
              <a:t>的专家，不管什么知识过来，都过一下</a:t>
            </a:r>
            <a:r>
              <a:rPr lang="en-US" dirty="0">
                <a:effectLst/>
              </a:rPr>
              <a:t>share</a:t>
            </a:r>
            <a:r>
              <a:rPr lang="zh-CN" altLang="en-US" dirty="0">
                <a:effectLst/>
              </a:rPr>
              <a:t>的专家</a:t>
            </a:r>
          </a:p>
        </p:txBody>
      </p:sp>
    </p:spTree>
    <p:extLst>
      <p:ext uri="{BB962C8B-B14F-4D97-AF65-F5344CB8AC3E}">
        <p14:creationId xmlns:p14="http://schemas.microsoft.com/office/powerpoint/2010/main" val="356391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1DB11D-B399-D4E2-F8AE-B778DDDA740C}"/>
              </a:ext>
            </a:extLst>
          </p:cNvPr>
          <p:cNvSpPr txBox="1"/>
          <p:nvPr/>
        </p:nvSpPr>
        <p:spPr>
          <a:xfrm>
            <a:off x="0" y="102088"/>
            <a:ext cx="12027062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FFFF00"/>
                </a:highlight>
              </a:rPr>
              <a:t>DeepSeek-V2 2024-05 </a:t>
            </a:r>
            <a:r>
              <a:rPr lang="en-US" altLang="zh-CN" sz="2000" b="1" dirty="0">
                <a:highlight>
                  <a:srgbClr val="FFFF00"/>
                </a:highlight>
                <a:hlinkClick r:id="rId2"/>
              </a:rPr>
              <a:t>https://arxiv.org/pdf/2405.04434</a:t>
            </a:r>
            <a:r>
              <a:rPr lang="en-US" altLang="zh-CN" sz="2000" b="1" dirty="0">
                <a:highlight>
                  <a:srgbClr val="FFFF00"/>
                </a:highlight>
              </a:rPr>
              <a:t>  236B </a:t>
            </a:r>
            <a:r>
              <a:rPr lang="en-US" altLang="zh-CN" sz="2000" b="1" dirty="0" err="1">
                <a:highlight>
                  <a:srgbClr val="FFFF00"/>
                </a:highlight>
              </a:rPr>
              <a:t>MoE</a:t>
            </a:r>
            <a:r>
              <a:rPr lang="en-US" altLang="zh-CN" sz="2000" b="1" dirty="0">
                <a:highlight>
                  <a:srgbClr val="FFFF00"/>
                </a:highlight>
              </a:rPr>
              <a:t> </a:t>
            </a:r>
            <a:r>
              <a:rPr lang="zh-CN" altLang="en-US" sz="2000" b="1" dirty="0">
                <a:highlight>
                  <a:srgbClr val="FFFF00"/>
                </a:highlight>
              </a:rPr>
              <a:t>激活 </a:t>
            </a:r>
            <a:r>
              <a:rPr lang="en-US" altLang="zh-CN" sz="2000" b="1" dirty="0">
                <a:highlight>
                  <a:srgbClr val="FFFF00"/>
                </a:highlight>
              </a:rPr>
              <a:t>21B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创新点：提出 </a:t>
            </a:r>
            <a:r>
              <a:rPr lang="en-US" dirty="0"/>
              <a:t>Multi-Head Latent </a:t>
            </a:r>
            <a:r>
              <a:rPr lang="en-US" dirty="0" err="1"/>
              <a:t>Attention（MLA</a:t>
            </a:r>
            <a:r>
              <a:rPr lang="en-US" dirty="0"/>
              <a:t>），</a:t>
            </a:r>
            <a:r>
              <a:rPr lang="zh-CN" altLang="en-US" dirty="0"/>
              <a:t>节约</a:t>
            </a:r>
            <a:r>
              <a:rPr lang="en-US" altLang="zh-CN" dirty="0"/>
              <a:t>93.3%</a:t>
            </a:r>
            <a:r>
              <a:rPr lang="en-US" dirty="0"/>
              <a:t>KV cache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Figure 3</a:t>
            </a:r>
            <a:r>
              <a:rPr lang="zh-CN" altLang="en-US" dirty="0"/>
              <a:t>从左到右：从</a:t>
            </a:r>
            <a:r>
              <a:rPr lang="en-US" dirty="0"/>
              <a:t>MHA</a:t>
            </a:r>
            <a:r>
              <a:rPr lang="zh-CN" altLang="en-US" dirty="0"/>
              <a:t>到</a:t>
            </a:r>
            <a:r>
              <a:rPr lang="en-US" dirty="0"/>
              <a:t>GQA </a:t>
            </a:r>
            <a:r>
              <a:rPr lang="zh-CN" altLang="en-US" dirty="0"/>
              <a:t>到</a:t>
            </a:r>
            <a:r>
              <a:rPr lang="en-US" dirty="0"/>
              <a:t>MQA，</a:t>
            </a:r>
            <a:r>
              <a:rPr lang="zh-CN" altLang="en-US" dirty="0"/>
              <a:t>随着</a:t>
            </a:r>
            <a:r>
              <a:rPr lang="en-US" dirty="0"/>
              <a:t>K-V</a:t>
            </a:r>
            <a:r>
              <a:rPr lang="zh-CN" altLang="en-US" dirty="0"/>
              <a:t>对的减少，</a:t>
            </a:r>
            <a:r>
              <a:rPr lang="en-US" dirty="0"/>
              <a:t>performance</a:t>
            </a:r>
            <a:r>
              <a:rPr lang="zh-CN" altLang="en-US" dirty="0"/>
              <a:t>也会下降，</a:t>
            </a:r>
            <a:r>
              <a:rPr lang="en-US" dirty="0"/>
              <a:t>KV</a:t>
            </a:r>
            <a:r>
              <a:rPr lang="zh-CN" altLang="en-US" dirty="0"/>
              <a:t>存在</a:t>
            </a:r>
            <a:r>
              <a:rPr lang="en-US" dirty="0"/>
              <a:t>GPU</a:t>
            </a:r>
            <a:r>
              <a:rPr lang="zh-CN" altLang="en-US" dirty="0"/>
              <a:t>里。</a:t>
            </a:r>
            <a:r>
              <a:rPr lang="en-US" dirty="0" err="1"/>
              <a:t>DeepSeek</a:t>
            </a:r>
            <a:r>
              <a:rPr lang="zh-CN" altLang="en-US" dirty="0"/>
              <a:t>提出的</a:t>
            </a:r>
            <a:r>
              <a:rPr lang="en-US" dirty="0"/>
              <a:t>Multi-Head Latent Attention，</a:t>
            </a:r>
            <a:r>
              <a:rPr lang="zh-CN" altLang="en-US" u="sng" dirty="0"/>
              <a:t>存储</a:t>
            </a:r>
            <a:r>
              <a:rPr lang="zh-CN" altLang="en-US" dirty="0"/>
              <a:t>的时候，将多头注意力的</a:t>
            </a:r>
            <a:r>
              <a:rPr lang="en-US" dirty="0"/>
              <a:t>KV</a:t>
            </a:r>
            <a:r>
              <a:rPr lang="zh-CN" altLang="en-US" dirty="0"/>
              <a:t>做了压缩再存，把</a:t>
            </a:r>
            <a:r>
              <a:rPr lang="en-US" dirty="0"/>
              <a:t>KV cache</a:t>
            </a:r>
            <a:r>
              <a:rPr lang="zh-CN" altLang="en-US" dirty="0"/>
              <a:t>降低了</a:t>
            </a:r>
            <a:r>
              <a:rPr lang="en-US" altLang="zh-CN" dirty="0"/>
              <a:t>93.3%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技术细节：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工程上，做了</a:t>
            </a:r>
            <a:r>
              <a:rPr lang="en-US" dirty="0" err="1"/>
              <a:t>experts、device、communication</a:t>
            </a:r>
            <a:r>
              <a:rPr lang="en-US" dirty="0"/>
              <a:t> </a:t>
            </a:r>
            <a:r>
              <a:rPr lang="zh-CN" altLang="en-US" dirty="0"/>
              <a:t>三方面的平衡，即平衡被激活的</a:t>
            </a:r>
            <a:r>
              <a:rPr lang="en-US" dirty="0"/>
              <a:t>experts，</a:t>
            </a:r>
            <a:r>
              <a:rPr lang="zh-CN" altLang="en-US" dirty="0"/>
              <a:t>平衡训练时用的</a:t>
            </a:r>
            <a:r>
              <a:rPr lang="en-US" dirty="0"/>
              <a:t>GPU，</a:t>
            </a:r>
            <a:r>
              <a:rPr lang="zh-CN" altLang="en-US" dirty="0"/>
              <a:t>进一步提升效率。 同时</a:t>
            </a:r>
            <a:r>
              <a:rPr lang="en-US" dirty="0" err="1"/>
              <a:t>MoE</a:t>
            </a:r>
            <a:r>
              <a:rPr lang="zh-CN" altLang="en-US" dirty="0"/>
              <a:t>的多</a:t>
            </a:r>
            <a:r>
              <a:rPr lang="en-US" dirty="0"/>
              <a:t>experts</a:t>
            </a:r>
            <a:r>
              <a:rPr lang="zh-CN" altLang="en-US" dirty="0"/>
              <a:t>的设置天然就适合分布式。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整体模型训练用了</a:t>
            </a:r>
            <a:r>
              <a:rPr lang="en-US" altLang="zh-CN" dirty="0"/>
              <a:t>8.1</a:t>
            </a:r>
            <a:r>
              <a:rPr lang="en-US" dirty="0"/>
              <a:t>T tokens，</a:t>
            </a:r>
            <a:r>
              <a:rPr lang="zh-CN" altLang="en-US" dirty="0"/>
              <a:t>其中，中文</a:t>
            </a:r>
            <a:r>
              <a:rPr lang="en-US" dirty="0"/>
              <a:t>tokens</a:t>
            </a:r>
            <a:r>
              <a:rPr lang="zh-CN" altLang="en-US" dirty="0"/>
              <a:t>比英文</a:t>
            </a:r>
            <a:r>
              <a:rPr lang="en-US" dirty="0"/>
              <a:t>tokens</a:t>
            </a:r>
            <a:r>
              <a:rPr lang="zh-CN" altLang="en-US" dirty="0"/>
              <a:t>多了接近</a:t>
            </a:r>
            <a:r>
              <a:rPr lang="en-US" altLang="zh-CN" dirty="0"/>
              <a:t>12%</a:t>
            </a:r>
            <a:r>
              <a:rPr lang="zh-CN" altLang="en-US" dirty="0"/>
              <a:t>。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A11A60-AE3C-AEAE-9269-CED8EB69D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904" y="1595860"/>
            <a:ext cx="5765157" cy="244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43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1DB11D-B399-D4E2-F8AE-B778DDDA740C}"/>
              </a:ext>
            </a:extLst>
          </p:cNvPr>
          <p:cNvSpPr txBox="1"/>
          <p:nvPr/>
        </p:nvSpPr>
        <p:spPr>
          <a:xfrm>
            <a:off x="164938" y="102088"/>
            <a:ext cx="1182643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FFFF00"/>
                </a:highlight>
              </a:rPr>
              <a:t>DeepSeek-V3 2024-12 </a:t>
            </a:r>
            <a:r>
              <a:rPr lang="en-US" altLang="zh-CN" sz="2000" b="1" dirty="0">
                <a:highlight>
                  <a:srgbClr val="FFFF00"/>
                </a:highlight>
                <a:hlinkClick r:id="rId2"/>
              </a:rPr>
              <a:t>https://arxiv.org/pdf/2412.19437</a:t>
            </a:r>
            <a:r>
              <a:rPr lang="en-US" altLang="zh-CN" sz="2000" b="1" dirty="0">
                <a:highlight>
                  <a:srgbClr val="FFFF00"/>
                </a:highlight>
              </a:rPr>
              <a:t>  671B </a:t>
            </a:r>
            <a:r>
              <a:rPr lang="en-US" altLang="zh-CN" sz="2000" b="1" dirty="0" err="1">
                <a:highlight>
                  <a:srgbClr val="FFFF00"/>
                </a:highlight>
              </a:rPr>
              <a:t>MoE</a:t>
            </a:r>
            <a:r>
              <a:rPr lang="en-US" altLang="zh-CN" sz="2000" b="1" dirty="0">
                <a:highlight>
                  <a:srgbClr val="FFFF00"/>
                </a:highlight>
              </a:rPr>
              <a:t> </a:t>
            </a:r>
            <a:r>
              <a:rPr lang="zh-CN" altLang="en-US" sz="2000" b="1" dirty="0">
                <a:highlight>
                  <a:srgbClr val="FFFF00"/>
                </a:highlight>
              </a:rPr>
              <a:t>激活 </a:t>
            </a:r>
            <a:r>
              <a:rPr lang="en-US" altLang="zh-CN" sz="2000" b="1" dirty="0">
                <a:highlight>
                  <a:srgbClr val="FFFF00"/>
                </a:highlight>
              </a:rPr>
              <a:t>37B</a:t>
            </a:r>
          </a:p>
          <a:p>
            <a:r>
              <a:rPr lang="en-US" u="sng" dirty="0"/>
              <a:t>(</a:t>
            </a:r>
            <a:r>
              <a:rPr lang="en-US" dirty="0"/>
              <a:t>train</a:t>
            </a:r>
            <a:r>
              <a:rPr lang="zh-CN" altLang="en-US" dirty="0"/>
              <a:t>了</a:t>
            </a:r>
            <a:r>
              <a:rPr lang="en-US" altLang="zh-CN" dirty="0"/>
              <a:t>14.8</a:t>
            </a:r>
            <a:r>
              <a:rPr lang="en-US" dirty="0"/>
              <a:t>T</a:t>
            </a:r>
            <a:r>
              <a:rPr lang="zh-CN" altLang="en-US" dirty="0"/>
              <a:t>的</a:t>
            </a:r>
            <a:r>
              <a:rPr lang="en-US" dirty="0"/>
              <a:t>token。</a:t>
            </a:r>
            <a:r>
              <a:rPr lang="zh-CN" altLang="en-US" dirty="0"/>
              <a:t>训练成本，整体花费</a:t>
            </a:r>
            <a:r>
              <a:rPr lang="en-US" altLang="zh-CN" dirty="0"/>
              <a:t>557.6</a:t>
            </a:r>
            <a:r>
              <a:rPr lang="zh-CN" altLang="en-US" dirty="0"/>
              <a:t>万美元。训练很稳定，一次</a:t>
            </a:r>
            <a:r>
              <a:rPr lang="en-US" dirty="0"/>
              <a:t>train</a:t>
            </a:r>
            <a:r>
              <a:rPr lang="zh-CN" altLang="en-US" dirty="0"/>
              <a:t>完，没有回滚，</a:t>
            </a:r>
            <a:r>
              <a:rPr lang="en-US" dirty="0" err="1"/>
              <a:t>deepseek</a:t>
            </a:r>
            <a:r>
              <a:rPr lang="zh-CN" altLang="en-US" dirty="0"/>
              <a:t>的</a:t>
            </a:r>
            <a:r>
              <a:rPr lang="en-US" dirty="0"/>
              <a:t>infra</a:t>
            </a:r>
            <a:r>
              <a:rPr lang="zh-CN" altLang="en-US" dirty="0"/>
              <a:t>做得特别好</a:t>
            </a:r>
            <a:r>
              <a:rPr lang="en-US" altLang="zh-CN" dirty="0"/>
              <a:t>)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V3</a:t>
            </a:r>
            <a:r>
              <a:rPr lang="zh-CN" altLang="en-US" dirty="0"/>
              <a:t>相比</a:t>
            </a:r>
            <a:r>
              <a:rPr lang="en-US" dirty="0"/>
              <a:t>V2，</a:t>
            </a:r>
            <a:r>
              <a:rPr lang="zh-CN" altLang="en-US" dirty="0"/>
              <a:t>使用了</a:t>
            </a:r>
            <a:r>
              <a:rPr lang="en-US" dirty="0"/>
              <a:t>multi-token </a:t>
            </a:r>
            <a:r>
              <a:rPr lang="en-US" dirty="0" err="1"/>
              <a:t>prediction（MTP</a:t>
            </a:r>
            <a:r>
              <a:rPr lang="en-US" dirty="0"/>
              <a:t>），</a:t>
            </a:r>
            <a:r>
              <a:rPr lang="zh-CN" altLang="en-US" dirty="0"/>
              <a:t>一次性预测接下来</a:t>
            </a:r>
            <a:r>
              <a:rPr lang="en-US" altLang="zh-CN" dirty="0"/>
              <a:t>3</a:t>
            </a:r>
            <a:r>
              <a:rPr lang="zh-CN" altLang="en-US" dirty="0"/>
              <a:t>个词，好处是让模型的训练更稠密，且另一方面是，模型可以更好的去自己规划即将预测的词。这个</a:t>
            </a:r>
            <a:r>
              <a:rPr lang="en-US" dirty="0"/>
              <a:t>MTP</a:t>
            </a:r>
            <a:r>
              <a:rPr lang="zh-CN" altLang="en-US" dirty="0"/>
              <a:t>是另一篇论文提出来的，也很新。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个</a:t>
            </a:r>
            <a:r>
              <a:rPr lang="en-US" dirty="0">
                <a:effectLst/>
              </a:rPr>
              <a:t>shared</a:t>
            </a:r>
            <a:r>
              <a:rPr lang="zh-CN" altLang="en-US" dirty="0">
                <a:effectLst/>
              </a:rPr>
              <a:t>专家，</a:t>
            </a:r>
            <a:r>
              <a:rPr lang="en-US" altLang="zh-CN" dirty="0">
                <a:effectLst/>
              </a:rPr>
              <a:t>256</a:t>
            </a:r>
            <a:r>
              <a:rPr lang="zh-CN" altLang="en-US" dirty="0">
                <a:effectLst/>
              </a:rPr>
              <a:t>个</a:t>
            </a:r>
            <a:r>
              <a:rPr lang="en-US" dirty="0">
                <a:effectLst/>
              </a:rPr>
              <a:t>experts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强化学习的</a:t>
            </a:r>
            <a:r>
              <a:rPr lang="en-US" dirty="0">
                <a:effectLst/>
              </a:rPr>
              <a:t>reward model , </a:t>
            </a:r>
            <a:r>
              <a:rPr lang="zh-CN" altLang="en-US" dirty="0">
                <a:effectLst/>
              </a:rPr>
              <a:t>开始用了基于规则的奖励模型（</a:t>
            </a:r>
            <a:r>
              <a:rPr lang="en-US" dirty="0">
                <a:effectLst/>
              </a:rPr>
              <a:t>rule-based RM），</a:t>
            </a:r>
            <a:r>
              <a:rPr lang="zh-CN" altLang="en-US" dirty="0">
                <a:effectLst/>
              </a:rPr>
              <a:t>之前都是</a:t>
            </a:r>
            <a:r>
              <a:rPr lang="en-US" dirty="0">
                <a:effectLst/>
              </a:rPr>
              <a:t>model-base 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文章写了好几页的</a:t>
            </a:r>
            <a:r>
              <a:rPr lang="en-US" dirty="0"/>
              <a:t>infra，</a:t>
            </a:r>
            <a:r>
              <a:rPr lang="zh-CN" altLang="en-US" dirty="0"/>
              <a:t>介绍工程实践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A6175-5B63-08FC-6CA2-3F9297451DA9}"/>
              </a:ext>
            </a:extLst>
          </p:cNvPr>
          <p:cNvSpPr txBox="1"/>
          <p:nvPr/>
        </p:nvSpPr>
        <p:spPr>
          <a:xfrm>
            <a:off x="164938" y="2687410"/>
            <a:ext cx="1172226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highlight>
                  <a:srgbClr val="FFFF00"/>
                </a:highlight>
              </a:rPr>
              <a:t>DeepSeek</a:t>
            </a:r>
            <a:r>
              <a:rPr lang="en-US" altLang="zh-CN" sz="2000" b="1" dirty="0">
                <a:highlight>
                  <a:srgbClr val="FFFF00"/>
                </a:highlight>
              </a:rPr>
              <a:t>-Coder 2024-01 </a:t>
            </a:r>
            <a:r>
              <a:rPr lang="en-US" altLang="zh-CN" sz="2000" b="1" dirty="0">
                <a:highlight>
                  <a:srgbClr val="FFFF00"/>
                </a:highlight>
                <a:hlinkClick r:id="rId3"/>
              </a:rPr>
              <a:t>https://arxiv.org/pdf/2401.141</a:t>
            </a:r>
            <a:r>
              <a:rPr lang="en-US" altLang="zh-CN" sz="2000" b="1" u="sng" dirty="0">
                <a:highlight>
                  <a:srgbClr val="FFFF00"/>
                </a:highlight>
                <a:hlinkClick r:id="rId3"/>
              </a:rPr>
              <a:t>96</a:t>
            </a:r>
            <a:r>
              <a:rPr lang="en-US" altLang="zh-CN" sz="2000" b="1" u="sng" dirty="0">
                <a:highlight>
                  <a:srgbClr val="FFFF00"/>
                </a:highlight>
              </a:rPr>
              <a:t> </a:t>
            </a:r>
          </a:p>
          <a:p>
            <a:r>
              <a:rPr lang="zh-CN" altLang="en-US" dirty="0"/>
              <a:t>是一系列开源的大型语言模型（</a:t>
            </a:r>
            <a:r>
              <a:rPr lang="en-US" dirty="0"/>
              <a:t>LLMs），</a:t>
            </a:r>
            <a:r>
              <a:rPr lang="zh-CN" altLang="en-US" dirty="0"/>
              <a:t>旨在提升代码智能，该系列模型的规模从 </a:t>
            </a:r>
            <a:r>
              <a:rPr lang="en-US" altLang="zh-CN" dirty="0"/>
              <a:t>1.3</a:t>
            </a:r>
            <a:r>
              <a:rPr lang="en-US" dirty="0"/>
              <a:t>B </a:t>
            </a:r>
            <a:r>
              <a:rPr lang="zh-CN" altLang="en-US" dirty="0"/>
              <a:t>到 </a:t>
            </a:r>
            <a:r>
              <a:rPr lang="en-US" altLang="zh-CN" dirty="0"/>
              <a:t>33</a:t>
            </a:r>
            <a:r>
              <a:rPr lang="en-US" dirty="0"/>
              <a:t>B </a:t>
            </a:r>
            <a:r>
              <a:rPr lang="zh-CN" altLang="en-US" dirty="0"/>
              <a:t>参数不等。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DeepSeek</a:t>
            </a:r>
            <a:r>
              <a:rPr lang="en-US" dirty="0"/>
              <a:t> Coder，</a:t>
            </a:r>
            <a:r>
              <a:rPr lang="zh-CN" altLang="en-US" dirty="0"/>
              <a:t>从头开始训练 </a:t>
            </a:r>
            <a:r>
              <a:rPr lang="en-US" altLang="zh-CN" dirty="0"/>
              <a:t>2</a:t>
            </a:r>
            <a:r>
              <a:rPr lang="en-US" dirty="0"/>
              <a:t>T</a:t>
            </a:r>
            <a:r>
              <a:rPr lang="zh-CN" altLang="en-US" dirty="0"/>
              <a:t>个</a:t>
            </a:r>
            <a:r>
              <a:rPr lang="en-US" dirty="0"/>
              <a:t>Tokens，</a:t>
            </a:r>
            <a:r>
              <a:rPr lang="zh-CN" altLang="en-US" dirty="0"/>
              <a:t>专注于增强代码生成和填充能力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DeepSeek</a:t>
            </a:r>
            <a:r>
              <a:rPr lang="en-US" dirty="0"/>
              <a:t> Coder-v1.5 ，</a:t>
            </a:r>
            <a:r>
              <a:rPr lang="zh-CN" altLang="en-US" dirty="0"/>
              <a:t>在</a:t>
            </a:r>
            <a:r>
              <a:rPr lang="en-US" dirty="0"/>
              <a:t>DeepSeek-LLM-7B</a:t>
            </a:r>
            <a:r>
              <a:rPr lang="zh-CN" altLang="en-US" dirty="0"/>
              <a:t>的基础上，继续用</a:t>
            </a:r>
            <a:r>
              <a:rPr lang="en-US" altLang="zh-CN" dirty="0"/>
              <a:t>2</a:t>
            </a:r>
            <a:r>
              <a:rPr lang="en-US" dirty="0"/>
              <a:t>T</a:t>
            </a:r>
            <a:r>
              <a:rPr lang="zh-CN" altLang="en-US" dirty="0"/>
              <a:t>的</a:t>
            </a:r>
            <a:r>
              <a:rPr lang="en-US" dirty="0"/>
              <a:t>tokens</a:t>
            </a:r>
            <a:r>
              <a:rPr lang="zh-CN" altLang="en-US" dirty="0"/>
              <a:t>做预训练（</a:t>
            </a:r>
            <a:r>
              <a:rPr lang="en-US" dirty="0"/>
              <a:t>continue pre-training）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两个版本的</a:t>
            </a:r>
            <a:r>
              <a:rPr lang="en-US" dirty="0"/>
              <a:t>Coder</a:t>
            </a:r>
            <a:r>
              <a:rPr lang="zh-CN" altLang="en-US" dirty="0"/>
              <a:t>代码都开源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1BC25-25B5-446B-DCB3-5048095CC47A}"/>
              </a:ext>
            </a:extLst>
          </p:cNvPr>
          <p:cNvSpPr txBox="1"/>
          <p:nvPr/>
        </p:nvSpPr>
        <p:spPr>
          <a:xfrm>
            <a:off x="164938" y="4655499"/>
            <a:ext cx="118264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 dirty="0">
                <a:highlight>
                  <a:srgbClr val="FFFF00"/>
                </a:highlight>
              </a:rPr>
              <a:t>DeepSeek-Coder-V2 2024-06  </a:t>
            </a:r>
            <a:r>
              <a:rPr lang="en-US" altLang="zh-CN" sz="2000" b="1" u="sng" dirty="0">
                <a:highlight>
                  <a:srgbClr val="FFFF00"/>
                </a:highlight>
                <a:hlinkClick r:id="rId4"/>
              </a:rPr>
              <a:t>https://arxiv.org/pdf/2406.11931</a:t>
            </a:r>
            <a:endParaRPr lang="en-US" altLang="zh-CN" sz="2000" b="1" u="sng" dirty="0">
              <a:highlight>
                <a:srgbClr val="FFFF00"/>
              </a:highlight>
            </a:endParaRPr>
          </a:p>
          <a:p>
            <a:r>
              <a:rPr lang="zh-CN" altLang="en-US" dirty="0"/>
              <a:t>在 </a:t>
            </a:r>
            <a:r>
              <a:rPr lang="en-US" dirty="0"/>
              <a:t>DeepSeek-V2 </a:t>
            </a:r>
            <a:r>
              <a:rPr lang="zh-CN" altLang="en-US" dirty="0"/>
              <a:t>的基础上，进一步预训练了 </a:t>
            </a:r>
            <a:r>
              <a:rPr lang="en-US" altLang="zh-CN" dirty="0"/>
              <a:t>6</a:t>
            </a:r>
            <a:r>
              <a:rPr lang="en-US" dirty="0"/>
              <a:t>T tokens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本篇强化学习的</a:t>
            </a:r>
            <a:r>
              <a:rPr lang="en-US" dirty="0"/>
              <a:t>reward model ，</a:t>
            </a:r>
            <a:r>
              <a:rPr lang="zh-CN" altLang="en-US" dirty="0"/>
              <a:t>依然是</a:t>
            </a:r>
            <a:r>
              <a:rPr lang="en-US" dirty="0"/>
              <a:t>model-base</a:t>
            </a:r>
            <a:r>
              <a:rPr lang="zh-CN" altLang="en-US" dirty="0"/>
              <a:t>的</a:t>
            </a:r>
          </a:p>
        </p:txBody>
      </p:sp>
    </p:spTree>
    <p:extLst>
      <p:ext uri="{BB962C8B-B14F-4D97-AF65-F5344CB8AC3E}">
        <p14:creationId xmlns:p14="http://schemas.microsoft.com/office/powerpoint/2010/main" val="762290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1DB11D-B399-D4E2-F8AE-B778DDDA740C}"/>
              </a:ext>
            </a:extLst>
          </p:cNvPr>
          <p:cNvSpPr txBox="1"/>
          <p:nvPr/>
        </p:nvSpPr>
        <p:spPr>
          <a:xfrm>
            <a:off x="164938" y="102088"/>
            <a:ext cx="118264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highlight>
                  <a:srgbClr val="FFFF00"/>
                </a:highlight>
              </a:rPr>
              <a:t>DeepSeek</a:t>
            </a:r>
            <a:r>
              <a:rPr lang="en-US" altLang="zh-CN" sz="2000" b="1" dirty="0">
                <a:highlight>
                  <a:srgbClr val="FFFF00"/>
                </a:highlight>
              </a:rPr>
              <a:t>-Math-Shepherd 2024-02  </a:t>
            </a:r>
            <a:r>
              <a:rPr lang="en-US" altLang="zh-CN" sz="2000" b="1" dirty="0">
                <a:highlight>
                  <a:srgbClr val="FFFF00"/>
                </a:highlight>
                <a:hlinkClick r:id="rId2"/>
              </a:rPr>
              <a:t>https://arxiv.org/pdf/2312.08935</a:t>
            </a:r>
            <a:endParaRPr lang="zh-CN" altLang="en-US" sz="2000" b="1" dirty="0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背景：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openai</a:t>
            </a:r>
            <a:r>
              <a:rPr lang="zh-CN" altLang="en-US" dirty="0"/>
              <a:t>发表过一篇论文</a:t>
            </a:r>
            <a:r>
              <a:rPr lang="en-US" altLang="zh-CN" dirty="0"/>
              <a:t>《</a:t>
            </a:r>
            <a:r>
              <a:rPr lang="en-US" dirty="0"/>
              <a:t>let's verify step by step》，</a:t>
            </a:r>
            <a:r>
              <a:rPr lang="zh-CN" altLang="en-US" dirty="0"/>
              <a:t>引导后续研究往“过程监督”的</a:t>
            </a:r>
            <a:r>
              <a:rPr lang="en-US" dirty="0"/>
              <a:t>reward model</a:t>
            </a:r>
            <a:r>
              <a:rPr lang="zh-CN" altLang="en-US" dirty="0"/>
              <a:t>路径上靠拢。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过程监督：数学推理中有很多的步骤，大家希望有个模型告诉我，过程中的每一步骤对不对。（对应的“结果监督”，只监测结果对不对）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open-ai</a:t>
            </a:r>
            <a:r>
              <a:rPr lang="zh-CN" altLang="en-US" dirty="0"/>
              <a:t>引入了一个过程监督数据集（</a:t>
            </a:r>
            <a:r>
              <a:rPr lang="en-US" dirty="0"/>
              <a:t>PRM800K)，</a:t>
            </a:r>
            <a:r>
              <a:rPr lang="zh-CN" altLang="en-US" dirty="0"/>
              <a:t>这个数据集靠人工标注了</a:t>
            </a:r>
            <a:r>
              <a:rPr lang="en-US" altLang="zh-CN" dirty="0"/>
              <a:t>80</a:t>
            </a:r>
            <a:r>
              <a:rPr lang="zh-CN" altLang="en-US" dirty="0"/>
              <a:t>万个步骤级正确性标签，每个步骤都被赋予了正向、负向或中性的评分，以反映其在解决数学问题中的有效程度。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DeepSeek</a:t>
            </a:r>
            <a:r>
              <a:rPr lang="zh-CN" altLang="en-US" dirty="0"/>
              <a:t>工作：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不需要人类标注结果，自动的构建每个步骤是否正确的标签。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构建方法：先生成一个步骤，然后固定该步骤，让模型生成后面的多种步骤结果，最终有多种不同的</a:t>
            </a:r>
            <a:r>
              <a:rPr lang="en-US" dirty="0"/>
              <a:t>solution，</a:t>
            </a:r>
            <a:r>
              <a:rPr lang="zh-CN" altLang="en-US" dirty="0"/>
              <a:t>假设“固定的这个步骤”能高概率引导出正确答案，那么认为“固定的这个步骤”正确；如果“固定的这个步骤”怎么写都写不出正确答案，那么“固定的这个步骤”错误。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结果：对比标注数据 和 自动构建的数据，结果表现差不多。</a:t>
            </a:r>
          </a:p>
        </p:txBody>
      </p:sp>
    </p:spTree>
    <p:extLst>
      <p:ext uri="{BB962C8B-B14F-4D97-AF65-F5344CB8AC3E}">
        <p14:creationId xmlns:p14="http://schemas.microsoft.com/office/powerpoint/2010/main" val="3830973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1DB11D-B399-D4E2-F8AE-B778DDDA740C}"/>
              </a:ext>
            </a:extLst>
          </p:cNvPr>
          <p:cNvSpPr txBox="1"/>
          <p:nvPr/>
        </p:nvSpPr>
        <p:spPr>
          <a:xfrm>
            <a:off x="164938" y="102088"/>
            <a:ext cx="11826433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highlight>
                  <a:srgbClr val="FFFF00"/>
                </a:highlight>
              </a:rPr>
              <a:t>DeepSeek</a:t>
            </a:r>
            <a:r>
              <a:rPr lang="en-US" altLang="zh-CN" sz="2000" b="1" dirty="0">
                <a:highlight>
                  <a:srgbClr val="FFFF00"/>
                </a:highlight>
              </a:rPr>
              <a:t>-Math 2024-04  </a:t>
            </a:r>
            <a:r>
              <a:rPr lang="en-US" altLang="zh-CN" sz="2000" b="1" dirty="0">
                <a:highlight>
                  <a:srgbClr val="FFFF00"/>
                </a:highlight>
                <a:hlinkClick r:id="rId2"/>
              </a:rPr>
              <a:t>https://arxiv.org/pdf/2402.03300</a:t>
            </a:r>
            <a:r>
              <a:rPr lang="en-US" altLang="zh-CN" sz="2000" dirty="0">
                <a:highlight>
                  <a:srgbClr val="FFFF00"/>
                </a:highlight>
              </a:rPr>
              <a:t> </a:t>
            </a:r>
          </a:p>
          <a:p>
            <a:r>
              <a:rPr lang="en-US" dirty="0" err="1"/>
              <a:t>DeepSeekMath</a:t>
            </a:r>
            <a:r>
              <a:rPr lang="en-US" dirty="0"/>
              <a:t> 7B </a:t>
            </a:r>
            <a:r>
              <a:rPr lang="zh-CN" altLang="en-US" dirty="0"/>
              <a:t>是一个专注于数学推理的语言模型，通过在</a:t>
            </a:r>
            <a:r>
              <a:rPr lang="en-US" dirty="0"/>
              <a:t>DeepSeek-Coder-Base-v1.5 7B</a:t>
            </a:r>
            <a:r>
              <a:rPr lang="zh-CN" altLang="en-US" dirty="0"/>
              <a:t>的基础上，使用</a:t>
            </a:r>
            <a:r>
              <a:rPr lang="en-US" altLang="zh-CN" dirty="0"/>
              <a:t>120</a:t>
            </a:r>
            <a:r>
              <a:rPr lang="en-US" dirty="0"/>
              <a:t>B</a:t>
            </a:r>
            <a:r>
              <a:rPr lang="zh-CN" altLang="en-US" dirty="0"/>
              <a:t>数学相关</a:t>
            </a:r>
            <a:r>
              <a:rPr lang="en-US" dirty="0"/>
              <a:t>token</a:t>
            </a:r>
            <a:r>
              <a:rPr lang="zh-CN" altLang="en-US" dirty="0"/>
              <a:t>进行预训练，显著提升了数学推理能力。</a:t>
            </a:r>
          </a:p>
          <a:p>
            <a:r>
              <a:rPr lang="zh-CN" altLang="en-US" b="1" dirty="0"/>
              <a:t>数据源</a:t>
            </a:r>
            <a:r>
              <a:rPr lang="zh-CN" altLang="en-US" dirty="0"/>
              <a:t>：从</a:t>
            </a:r>
            <a:r>
              <a:rPr lang="en-US" dirty="0"/>
              <a:t>Common Crawl</a:t>
            </a:r>
            <a:r>
              <a:rPr lang="zh-CN" altLang="en-US" dirty="0"/>
              <a:t>中筛选数学相关网页内容，构建了高质量的预训练数据集</a:t>
            </a:r>
            <a:r>
              <a:rPr lang="en-US" altLang="zh-CN" dirty="0"/>
              <a:t>——</a:t>
            </a:r>
            <a:r>
              <a:rPr lang="en-US" b="1" dirty="0" err="1"/>
              <a:t>DeepSeekMath</a:t>
            </a:r>
            <a:r>
              <a:rPr lang="en-US" b="1" dirty="0"/>
              <a:t> Corpus</a:t>
            </a:r>
            <a:r>
              <a:rPr lang="en-US" dirty="0"/>
              <a:t>（120B</a:t>
            </a:r>
            <a:r>
              <a:rPr lang="zh-CN" altLang="en-US" dirty="0"/>
              <a:t>数学相关的</a:t>
            </a:r>
            <a:r>
              <a:rPr lang="en-US" dirty="0"/>
              <a:t>Token）。</a:t>
            </a:r>
          </a:p>
          <a:p>
            <a:r>
              <a:rPr lang="zh-CN" altLang="en-US" b="1" dirty="0"/>
              <a:t>模型架构</a:t>
            </a:r>
            <a:r>
              <a:rPr lang="zh-CN" altLang="en-US" dirty="0"/>
              <a:t>：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</a:rPr>
              <a:t>代码能力迁移</a:t>
            </a:r>
            <a:r>
              <a:rPr lang="zh-CN" altLang="en-US" dirty="0">
                <a:effectLst/>
              </a:rPr>
              <a:t>：模型基于代码预训练模型</a:t>
            </a:r>
            <a:r>
              <a:rPr lang="en-US" dirty="0">
                <a:effectLst/>
              </a:rPr>
              <a:t>DeepSeek-Coder-Base-v1.5 7B</a:t>
            </a:r>
            <a:r>
              <a:rPr lang="zh-CN" altLang="en-US" dirty="0">
                <a:effectLst/>
              </a:rPr>
              <a:t>初始化。实验表明，代码训练显著提升了数学推理表现（即使不使用工具），验证了代码能力对数学问题解决的正向迁移。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</a:rPr>
              <a:t>强化学习优化</a:t>
            </a:r>
            <a:r>
              <a:rPr lang="zh-CN" altLang="en-US" dirty="0">
                <a:effectLst/>
              </a:rPr>
              <a:t>：提出</a:t>
            </a:r>
            <a:r>
              <a:rPr lang="en-US" b="1" dirty="0">
                <a:effectLst/>
              </a:rPr>
              <a:t>Group Relative Policy Optimization (GRPO)</a:t>
            </a:r>
            <a:r>
              <a:rPr lang="en-US" dirty="0">
                <a:effectLst/>
              </a:rPr>
              <a:t>，</a:t>
            </a:r>
            <a:r>
              <a:rPr lang="zh-CN" altLang="en-US" dirty="0">
                <a:effectLst/>
              </a:rPr>
              <a:t>一种改进的</a:t>
            </a:r>
            <a:r>
              <a:rPr lang="en-US" dirty="0">
                <a:effectLst/>
              </a:rPr>
              <a:t>PPO</a:t>
            </a:r>
            <a:r>
              <a:rPr lang="zh-CN" altLang="en-US" dirty="0">
                <a:effectLst/>
              </a:rPr>
              <a:t>方法，</a:t>
            </a:r>
            <a:r>
              <a:rPr lang="zh-CN" altLang="en-US" u="sng" dirty="0">
                <a:effectLst/>
              </a:rPr>
              <a:t>显著降低内存占用同时提升数学推理能力</a:t>
            </a:r>
            <a:r>
              <a:rPr lang="zh-CN" altLang="en-US" dirty="0">
                <a:effectLst/>
              </a:rPr>
              <a:t>。经</a:t>
            </a:r>
            <a:r>
              <a:rPr lang="en-US" dirty="0">
                <a:effectLst/>
              </a:rPr>
              <a:t>GRPO</a:t>
            </a:r>
            <a:r>
              <a:rPr lang="zh-CN" altLang="en-US" dirty="0">
                <a:effectLst/>
              </a:rPr>
              <a:t>优化后，模型在</a:t>
            </a:r>
            <a:r>
              <a:rPr lang="en-US" dirty="0">
                <a:effectLst/>
              </a:rPr>
              <a:t>MATH</a:t>
            </a:r>
            <a:r>
              <a:rPr lang="zh-CN" altLang="en-US" dirty="0">
                <a:effectLst/>
              </a:rPr>
              <a:t>基准测试的准确率从</a:t>
            </a:r>
            <a:r>
              <a:rPr lang="en-US" altLang="zh-CN" dirty="0">
                <a:effectLst/>
              </a:rPr>
              <a:t>46.3%</a:t>
            </a:r>
            <a:r>
              <a:rPr lang="zh-CN" altLang="en-US" dirty="0">
                <a:effectLst/>
              </a:rPr>
              <a:t>提升至</a:t>
            </a:r>
            <a:r>
              <a:rPr lang="en-US" altLang="zh-CN" dirty="0">
                <a:effectLst/>
              </a:rPr>
              <a:t>51.7%</a:t>
            </a:r>
            <a:r>
              <a:rPr lang="zh-CN" altLang="en-US" dirty="0">
                <a:effectLst/>
              </a:rPr>
              <a:t>（接近</a:t>
            </a:r>
            <a:r>
              <a:rPr lang="en-US" dirty="0">
                <a:effectLst/>
              </a:rPr>
              <a:t>GPT-4</a:t>
            </a:r>
            <a:r>
              <a:rPr lang="zh-CN" altLang="en-US" dirty="0">
                <a:effectLst/>
              </a:rPr>
              <a:t>的</a:t>
            </a:r>
            <a:r>
              <a:rPr lang="en-US" altLang="zh-CN" dirty="0">
                <a:effectLst/>
              </a:rPr>
              <a:t>60.9%</a:t>
            </a:r>
            <a:r>
              <a:rPr lang="zh-CN" altLang="en-US" dirty="0">
                <a:effectLst/>
              </a:rPr>
              <a:t>）。改进方式简述：如图，减少</a:t>
            </a:r>
            <a:r>
              <a:rPr lang="en-US" dirty="0">
                <a:effectLst/>
              </a:rPr>
              <a:t>Value Model。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u="sng" dirty="0"/>
              <a:t>讨论</a:t>
            </a:r>
            <a:r>
              <a:rPr lang="zh-CN" altLang="en-US" u="sng" dirty="0"/>
              <a:t>：开始讨论如何泛化</a:t>
            </a:r>
            <a:r>
              <a:rPr lang="en-US" u="sng" dirty="0"/>
              <a:t>reward model</a:t>
            </a:r>
            <a:r>
              <a:rPr lang="zh-CN" altLang="en-US" u="sng" dirty="0"/>
              <a:t>的能力</a:t>
            </a:r>
            <a:endParaRPr lang="en-US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</p:txBody>
      </p:sp>
      <p:sp>
        <p:nvSpPr>
          <p:cNvPr id="4" name="AutoShape 4" descr="ULMZbzCWUos2MvxSJVkcRzC6nlc">
            <a:extLst>
              <a:ext uri="{FF2B5EF4-FFF2-40B4-BE49-F238E27FC236}">
                <a16:creationId xmlns:a16="http://schemas.microsoft.com/office/drawing/2014/main" id="{CD83C927-D3EC-EA8C-626F-6E64F7C228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0D89DE-ECDC-F38E-2C5A-48ADA05B7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1" y="2970485"/>
            <a:ext cx="6158345" cy="303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2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1DB11D-B399-D4E2-F8AE-B778DDDA740C}"/>
              </a:ext>
            </a:extLst>
          </p:cNvPr>
          <p:cNvSpPr txBox="1"/>
          <p:nvPr/>
        </p:nvSpPr>
        <p:spPr>
          <a:xfrm>
            <a:off x="164938" y="102088"/>
            <a:ext cx="1182643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highlight>
                  <a:srgbClr val="FFFF00"/>
                </a:highlight>
              </a:rPr>
              <a:t>DeepSeek</a:t>
            </a:r>
            <a:r>
              <a:rPr lang="en-US" altLang="zh-CN" sz="2000" b="1" dirty="0">
                <a:highlight>
                  <a:srgbClr val="FFFF00"/>
                </a:highlight>
              </a:rPr>
              <a:t>-Prover 2024-05  https://</a:t>
            </a:r>
            <a:r>
              <a:rPr lang="en-US" altLang="zh-CN" sz="2000" b="1" dirty="0" err="1">
                <a:highlight>
                  <a:srgbClr val="FFFF00"/>
                </a:highlight>
              </a:rPr>
              <a:t>arxiv.org</a:t>
            </a:r>
            <a:r>
              <a:rPr lang="en-US" altLang="zh-CN" sz="2000" b="1" dirty="0">
                <a:highlight>
                  <a:srgbClr val="FFFF00"/>
                </a:highlight>
              </a:rPr>
              <a:t>/pdf/2405.14333</a:t>
            </a:r>
            <a:endParaRPr lang="zh-CN" altLang="en-US" sz="2000" b="1" dirty="0">
              <a:highlight>
                <a:srgbClr val="FFFF00"/>
              </a:highlight>
            </a:endParaRPr>
          </a:p>
          <a:p>
            <a:r>
              <a:rPr lang="en-US" dirty="0" err="1"/>
              <a:t>DeepSeek</a:t>
            </a:r>
            <a:r>
              <a:rPr lang="en-US" dirty="0"/>
              <a:t>-Prover</a:t>
            </a:r>
            <a:r>
              <a:rPr lang="zh-CN" altLang="en-US" dirty="0"/>
              <a:t>论文提出了一种利用</a:t>
            </a:r>
            <a:r>
              <a:rPr lang="zh-CN" altLang="en-US" u="sng" dirty="0"/>
              <a:t>大规模合成数据</a:t>
            </a:r>
            <a:r>
              <a:rPr lang="zh-CN" altLang="en-US" dirty="0"/>
              <a:t>增强大语言模型（</a:t>
            </a:r>
            <a:r>
              <a:rPr lang="en-US" dirty="0"/>
              <a:t>LLMs）</a:t>
            </a:r>
            <a:r>
              <a:rPr lang="zh-CN" altLang="en-US" dirty="0"/>
              <a:t>在形式化</a:t>
            </a:r>
            <a:r>
              <a:rPr lang="zh-CN" altLang="en-US" u="sng" dirty="0"/>
              <a:t>定理证明</a:t>
            </a:r>
            <a:r>
              <a:rPr lang="zh-CN" altLang="en-US" dirty="0"/>
              <a:t>中能力的方法，核心内容如下：</a:t>
            </a:r>
          </a:p>
          <a:p>
            <a:pPr algn="l"/>
            <a:r>
              <a:rPr lang="en-US" altLang="zh-CN" dirty="0">
                <a:effectLst/>
              </a:rPr>
              <a:t>1.</a:t>
            </a:r>
            <a:r>
              <a:rPr lang="zh-CN" altLang="en-US" b="1" dirty="0">
                <a:effectLst/>
              </a:rPr>
              <a:t>现有问题</a:t>
            </a:r>
            <a:r>
              <a:rPr lang="zh-CN" altLang="en-US" dirty="0">
                <a:effectLst/>
              </a:rPr>
              <a:t>：现有</a:t>
            </a:r>
            <a:r>
              <a:rPr lang="en-US" dirty="0">
                <a:effectLst/>
              </a:rPr>
              <a:t>LLMs</a:t>
            </a:r>
            <a:r>
              <a:rPr lang="zh-CN" altLang="en-US" dirty="0">
                <a:effectLst/>
              </a:rPr>
              <a:t>在形式化定理证明（如使用</a:t>
            </a:r>
            <a:r>
              <a:rPr lang="en-US" dirty="0">
                <a:effectLst/>
              </a:rPr>
              <a:t>Lean 4</a:t>
            </a:r>
            <a:r>
              <a:rPr lang="zh-CN" altLang="en-US" dirty="0">
                <a:effectLst/>
              </a:rPr>
              <a:t>验证器）中存在性能瓶颈，主要受限于</a:t>
            </a:r>
            <a:r>
              <a:rPr lang="zh-CN" altLang="en-US" b="1" dirty="0">
                <a:effectLst/>
              </a:rPr>
              <a:t>高质量形式化证明数据的缺乏</a:t>
            </a:r>
            <a:r>
              <a:rPr lang="en-US" altLang="zh-CN" b="1" dirty="0">
                <a:effectLst/>
              </a:rPr>
              <a:t>(</a:t>
            </a:r>
            <a:r>
              <a:rPr lang="en-US" altLang="zh-CN" dirty="0">
                <a:effectLst/>
              </a:rPr>
              <a:t>Lean </a:t>
            </a:r>
            <a:r>
              <a:rPr lang="zh-CN" altLang="en-US" dirty="0">
                <a:effectLst/>
              </a:rPr>
              <a:t>是一种专门服务于定理证明的编程语言 </a:t>
            </a:r>
            <a:r>
              <a:rPr lang="en-US" altLang="zh-CN" dirty="0">
                <a:effectLst/>
                <a:hlinkClick r:id="rId2"/>
              </a:rPr>
              <a:t>https://lean-lang.org/about/</a:t>
            </a:r>
            <a:r>
              <a:rPr lang="zh-CN" altLang="en-US" dirty="0">
                <a:effectLst/>
              </a:rPr>
              <a:t>）</a:t>
            </a:r>
          </a:p>
          <a:p>
            <a:r>
              <a:rPr lang="en-US" altLang="zh-CN" dirty="0"/>
              <a:t>2.</a:t>
            </a:r>
            <a:r>
              <a:rPr lang="zh-CN" altLang="en-US" b="1" dirty="0"/>
              <a:t>方法创新</a:t>
            </a:r>
            <a:endParaRPr lang="zh-CN" alt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</a:rPr>
              <a:t>数据生成</a:t>
            </a:r>
            <a:r>
              <a:rPr lang="zh-CN" altLang="en-US" dirty="0">
                <a:effectLst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将</a:t>
            </a:r>
            <a:r>
              <a:rPr lang="zh-CN" altLang="en-US" b="1" dirty="0">
                <a:effectLst/>
              </a:rPr>
              <a:t>高中数学竞赛题和本科数学问题</a:t>
            </a:r>
            <a:r>
              <a:rPr lang="zh-CN" altLang="en-US" dirty="0">
                <a:effectLst/>
              </a:rPr>
              <a:t>转化为形式化陈述（基于</a:t>
            </a:r>
            <a:r>
              <a:rPr lang="en-US" dirty="0">
                <a:effectLst/>
              </a:rPr>
              <a:t>Lean 4，</a:t>
            </a:r>
            <a:r>
              <a:rPr lang="zh-CN" altLang="en-US" dirty="0">
                <a:effectLst/>
              </a:rPr>
              <a:t>这是一个引擎，简单理解就是判断“形式化陈述”对不对）。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通过</a:t>
            </a:r>
            <a:r>
              <a:rPr lang="zh-CN" altLang="en-US" b="1" dirty="0">
                <a:effectLst/>
              </a:rPr>
              <a:t>质量评分模型</a:t>
            </a:r>
            <a:r>
              <a:rPr lang="zh-CN" altLang="en-US" dirty="0">
                <a:effectLst/>
              </a:rPr>
              <a:t>（过滤低质量陈述）和</a:t>
            </a:r>
            <a:r>
              <a:rPr lang="zh-CN" altLang="en-US" b="1" dirty="0">
                <a:effectLst/>
              </a:rPr>
              <a:t>假设拒绝策略</a:t>
            </a:r>
            <a:r>
              <a:rPr lang="zh-CN" altLang="en-US" dirty="0">
                <a:effectLst/>
              </a:rPr>
              <a:t>（验证陈述有效性）筛选数据。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使用迭代框架生成</a:t>
            </a:r>
            <a:r>
              <a:rPr lang="en-US" altLang="zh-CN" b="1" dirty="0">
                <a:effectLst/>
              </a:rPr>
              <a:t>800</a:t>
            </a:r>
            <a:r>
              <a:rPr lang="zh-CN" altLang="en-US" b="1" dirty="0">
                <a:effectLst/>
              </a:rPr>
              <a:t>万条形式化陈述</a:t>
            </a:r>
            <a:r>
              <a:rPr lang="en-US" altLang="zh-CN" b="1" dirty="0">
                <a:effectLst/>
              </a:rPr>
              <a:t>-</a:t>
            </a:r>
            <a:r>
              <a:rPr lang="zh-CN" altLang="en-US" b="1" dirty="0">
                <a:effectLst/>
              </a:rPr>
              <a:t>证明对</a:t>
            </a:r>
            <a:r>
              <a:rPr lang="zh-CN" altLang="en-US" dirty="0">
                <a:effectLst/>
              </a:rPr>
              <a:t>的合成数据集。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</a:rPr>
              <a:t>训练优化</a:t>
            </a:r>
            <a:r>
              <a:rPr lang="zh-CN" altLang="en-US" dirty="0">
                <a:effectLst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</a:rPr>
              <a:t>并行证明搜索</a:t>
            </a:r>
            <a:r>
              <a:rPr lang="zh-CN" altLang="en-US" dirty="0">
                <a:effectLst/>
              </a:rPr>
              <a:t>：为每个陈述同时搜索其原始形式与否定形式的证明，任一得证即终止，</a:t>
            </a:r>
            <a:r>
              <a:rPr lang="zh-CN" altLang="en-US" b="1" dirty="0">
                <a:effectLst/>
              </a:rPr>
              <a:t>加速搜索过程</a:t>
            </a:r>
            <a:r>
              <a:rPr lang="zh-CN" altLang="en-US" dirty="0">
                <a:effectLst/>
              </a:rPr>
              <a:t>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</a:rPr>
              <a:t>迭代增强</a:t>
            </a:r>
            <a:r>
              <a:rPr lang="zh-CN" altLang="en-US" dirty="0">
                <a:effectLst/>
              </a:rPr>
              <a:t>：通过多次微调（每轮用新数据训练模型），逐步提升模型生成高质量证明的能力。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效果：</a:t>
            </a:r>
            <a:r>
              <a:rPr lang="zh-CN" altLang="en-US" dirty="0"/>
              <a:t>在</a:t>
            </a:r>
            <a:r>
              <a:rPr lang="en-US" b="1" dirty="0"/>
              <a:t>Lean 4 miniF2F</a:t>
            </a:r>
            <a:r>
              <a:rPr lang="zh-CN" altLang="en-US" b="1" dirty="0"/>
              <a:t>测试</a:t>
            </a:r>
            <a:r>
              <a:rPr lang="zh-CN" altLang="en-US" dirty="0"/>
              <a:t>中，模型全证明生成准确率达</a:t>
            </a:r>
            <a:r>
              <a:rPr lang="en-US" altLang="zh-CN" dirty="0"/>
              <a:t>46.3%</a:t>
            </a:r>
            <a:r>
              <a:rPr lang="zh-CN" altLang="en-US" dirty="0"/>
              <a:t>（</a:t>
            </a:r>
            <a:r>
              <a:rPr lang="en-US" altLang="zh-CN" dirty="0"/>
              <a:t>64</a:t>
            </a:r>
            <a:r>
              <a:rPr lang="zh-CN" altLang="en-US" dirty="0"/>
              <a:t>样本）、</a:t>
            </a:r>
            <a:r>
              <a:rPr lang="en-US" altLang="zh-CN" dirty="0"/>
              <a:t>52%</a:t>
            </a:r>
            <a:r>
              <a:rPr lang="zh-CN" altLang="en-US" dirty="0"/>
              <a:t>（累积），显著超越</a:t>
            </a:r>
            <a:r>
              <a:rPr lang="en-US" dirty="0"/>
              <a:t>GPT-4（23%）</a:t>
            </a:r>
            <a:r>
              <a:rPr lang="zh-CN" altLang="en-US" dirty="0"/>
              <a:t>与树搜索强化学习方法（</a:t>
            </a:r>
            <a:r>
              <a:rPr lang="en-US" altLang="zh-CN" dirty="0"/>
              <a:t>41%</a:t>
            </a:r>
            <a:r>
              <a:rPr lang="zh-CN" altLang="en-US" dirty="0"/>
              <a:t>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u="sng" dirty="0"/>
              <a:t>注意，本文开始讨论不要</a:t>
            </a:r>
            <a:r>
              <a:rPr lang="en-US" u="sng" dirty="0"/>
              <a:t>reward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68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1DB11D-B399-D4E2-F8AE-B778DDDA740C}"/>
              </a:ext>
            </a:extLst>
          </p:cNvPr>
          <p:cNvSpPr txBox="1"/>
          <p:nvPr/>
        </p:nvSpPr>
        <p:spPr>
          <a:xfrm>
            <a:off x="164938" y="102088"/>
            <a:ext cx="1182643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FFFF00"/>
                </a:highlight>
              </a:rPr>
              <a:t>DeepSeek-Prover-V1.5  2024-08  https://</a:t>
            </a:r>
            <a:r>
              <a:rPr lang="en-US" altLang="zh-CN" sz="2000" b="1" dirty="0" err="1">
                <a:highlight>
                  <a:srgbClr val="FFFF00"/>
                </a:highlight>
              </a:rPr>
              <a:t>arxiv.org</a:t>
            </a:r>
            <a:r>
              <a:rPr lang="en-US" altLang="zh-CN" sz="2000" b="1" dirty="0">
                <a:highlight>
                  <a:srgbClr val="FFFF00"/>
                </a:highlight>
              </a:rPr>
              <a:t>/pdf/2408.08152</a:t>
            </a:r>
            <a:endParaRPr lang="zh-CN" altLang="en-US" sz="2000" b="1" dirty="0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核心目标</a:t>
            </a:r>
            <a:r>
              <a:rPr lang="zh-CN" altLang="en-US" dirty="0"/>
              <a:t>：通过融合强化学习（</a:t>
            </a:r>
            <a:r>
              <a:rPr lang="en-US" dirty="0"/>
              <a:t>RL）</a:t>
            </a:r>
            <a:r>
              <a:rPr lang="zh-CN" altLang="en-US" dirty="0"/>
              <a:t>和蒙特卡洛树搜索（</a:t>
            </a:r>
            <a:r>
              <a:rPr lang="en-US" dirty="0"/>
              <a:t>MCTS）</a:t>
            </a:r>
            <a:r>
              <a:rPr lang="en-US" altLang="zh-CN" dirty="0"/>
              <a:t> (</a:t>
            </a:r>
            <a:r>
              <a:rPr lang="zh-CN" altLang="en-US" dirty="0">
                <a:highlight>
                  <a:srgbClr val="00FF00"/>
                </a:highlight>
              </a:rPr>
              <a:t>历史弯路</a:t>
            </a:r>
            <a:r>
              <a:rPr lang="en-US" altLang="zh-CN" dirty="0"/>
              <a:t>)</a:t>
            </a:r>
            <a:r>
              <a:rPr lang="zh-CN" altLang="en-US" dirty="0"/>
              <a:t>改进定理证明的交互式策略。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与传统</a:t>
            </a:r>
            <a:r>
              <a:rPr lang="en-US" dirty="0"/>
              <a:t>RL</a:t>
            </a:r>
            <a:r>
              <a:rPr lang="zh-CN" altLang="en-US" dirty="0"/>
              <a:t>依赖“训练好的奖励模型”不同，</a:t>
            </a:r>
            <a:r>
              <a:rPr lang="en-US" dirty="0"/>
              <a:t>DeepSeek-Prover-V1.5</a:t>
            </a:r>
            <a:r>
              <a:rPr lang="zh-CN" altLang="en-US" dirty="0"/>
              <a:t>直接通过</a:t>
            </a:r>
            <a:r>
              <a:rPr lang="en-US" dirty="0"/>
              <a:t>Lean</a:t>
            </a:r>
            <a:r>
              <a:rPr lang="zh-CN" altLang="en-US" dirty="0"/>
              <a:t>证明助手的严格验证结果生成二元奖励（成功验证为</a:t>
            </a:r>
            <a:r>
              <a:rPr lang="en-US" altLang="zh-CN" dirty="0"/>
              <a:t>1</a:t>
            </a:r>
            <a:r>
              <a:rPr lang="zh-CN" altLang="en-US" dirty="0"/>
              <a:t>，失败为</a:t>
            </a:r>
            <a:r>
              <a:rPr lang="en-US" altLang="zh-CN" dirty="0"/>
              <a:t>0</a:t>
            </a:r>
            <a:r>
              <a:rPr lang="zh-CN" altLang="en-US" dirty="0"/>
              <a:t>），</a:t>
            </a:r>
            <a:r>
              <a:rPr lang="zh-CN" altLang="en-US" u="sng" dirty="0"/>
              <a:t>没有使用独立的奖励模型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437F85-1DB9-E0A0-9ED6-374C2DE4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26" y="1610193"/>
            <a:ext cx="9364807" cy="21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93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1DB11D-B399-D4E2-F8AE-B778DDDA740C}"/>
              </a:ext>
            </a:extLst>
          </p:cNvPr>
          <p:cNvSpPr txBox="1"/>
          <p:nvPr/>
        </p:nvSpPr>
        <p:spPr>
          <a:xfrm>
            <a:off x="164938" y="102088"/>
            <a:ext cx="118264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FFFF00"/>
                </a:highlight>
              </a:rPr>
              <a:t>DeepSeek-R1  2025-01  https://</a:t>
            </a:r>
            <a:r>
              <a:rPr lang="en-US" altLang="zh-CN" sz="2000" b="1" dirty="0" err="1">
                <a:highlight>
                  <a:srgbClr val="FFFF00"/>
                </a:highlight>
              </a:rPr>
              <a:t>arxiv.org</a:t>
            </a:r>
            <a:r>
              <a:rPr lang="en-US" altLang="zh-CN" sz="2000" b="1" dirty="0">
                <a:highlight>
                  <a:srgbClr val="FFFF00"/>
                </a:highlight>
              </a:rPr>
              <a:t>/pdf/2501.12948</a:t>
            </a:r>
            <a:endParaRPr lang="zh-CN" altLang="en-US" sz="2000" b="1" dirty="0">
              <a:highlight>
                <a:srgbClr val="FFFF00"/>
              </a:highlight>
            </a:endParaRPr>
          </a:p>
          <a:p>
            <a:r>
              <a:rPr lang="zh-CN" altLang="en-US" dirty="0"/>
              <a:t>为了训练</a:t>
            </a:r>
            <a:r>
              <a:rPr lang="en-US" dirty="0"/>
              <a:t>DeepSeek-R1-Zero，DeepSeek</a:t>
            </a:r>
            <a:r>
              <a:rPr lang="zh-CN" altLang="en-US" dirty="0"/>
              <a:t>采用了基于规则的奖励系统，主要包括两种类型的奖励：</a:t>
            </a:r>
          </a:p>
          <a:p>
            <a:r>
              <a:rPr lang="en-US" altLang="zh-CN" b="1" dirty="0"/>
              <a:t>• </a:t>
            </a:r>
            <a:r>
              <a:rPr lang="zh-CN" altLang="en-US" b="1" dirty="0"/>
              <a:t>准确性奖励</a:t>
            </a:r>
            <a:r>
              <a:rPr lang="zh-CN" altLang="en-US" dirty="0"/>
              <a:t>：准确性奖励模型评估回答是否正确。例如，对于结果确定的数学问题，模型需按照指定格式（如答案放入框内）提供最终答案，便于基于规则的可靠验证。 </a:t>
            </a:r>
          </a:p>
          <a:p>
            <a:r>
              <a:rPr lang="en-US" altLang="zh-CN" b="1" dirty="0"/>
              <a:t>• </a:t>
            </a:r>
            <a:r>
              <a:rPr lang="zh-CN" altLang="en-US" b="1" dirty="0"/>
              <a:t>格式奖励</a:t>
            </a:r>
            <a:r>
              <a:rPr lang="zh-CN" altLang="en-US" dirty="0"/>
              <a:t>：除了准确性奖励模型，我们使用格式奖励模型强制要求模型的思考过程必须位于</a:t>
            </a:r>
            <a:r>
              <a:rPr lang="en-US" altLang="zh-CN" dirty="0"/>
              <a:t>&lt;</a:t>
            </a:r>
            <a:r>
              <a:rPr lang="en-US" dirty="0"/>
              <a:t>think&gt;</a:t>
            </a:r>
            <a:r>
              <a:rPr lang="zh-CN" altLang="en-US" dirty="0"/>
              <a:t>和</a:t>
            </a:r>
            <a:r>
              <a:rPr lang="en-US" altLang="zh-CN" dirty="0"/>
              <a:t>&lt;/</a:t>
            </a:r>
            <a:r>
              <a:rPr lang="en-US" dirty="0"/>
              <a:t>think&gt;</a:t>
            </a:r>
            <a:r>
              <a:rPr lang="zh-CN" altLang="en-US" dirty="0"/>
              <a:t>标签之间。 缓解多语言提示下推理过程的语言混合问题。</a:t>
            </a:r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52764-A0F5-3DA9-E684-FCAF60C8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081" y="2133413"/>
            <a:ext cx="8685775" cy="339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2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94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43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1968</Words>
  <Application>Microsoft Macintosh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rival-sans</vt:lpstr>
      <vt:lpstr>Arial</vt:lpstr>
      <vt:lpstr>Calibri</vt:lpstr>
      <vt:lpstr>Calibri Light</vt:lpstr>
      <vt:lpstr>Lucida Grande</vt:lpstr>
      <vt:lpstr>Office Theme</vt:lpstr>
      <vt:lpstr>DeepSeek-Series-Paper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DeepSeek-Series-Paper</dc:title>
  <dc:creator>Microsoft Office User</dc:creator>
  <cp:lastModifiedBy>Microsoft Office User</cp:lastModifiedBy>
  <cp:revision>114</cp:revision>
  <dcterms:created xsi:type="dcterms:W3CDTF">2026-09-08T06:37:39Z</dcterms:created>
  <dcterms:modified xsi:type="dcterms:W3CDTF">2026-09-08T08:52:51Z</dcterms:modified>
</cp:coreProperties>
</file>