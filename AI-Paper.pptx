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473" r:id="rId4"/>
    <p:sldId id="459" r:id="rId5"/>
    <p:sldId id="260" r:id="rId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6405"/>
  </p:normalViewPr>
  <p:slideViewPr>
    <p:cSldViewPr snapToGrid="0">
      <p:cViewPr varScale="1">
        <p:scale>
          <a:sx n="116" d="100"/>
          <a:sy n="116" d="100"/>
        </p:scale>
        <p:origin x="20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64AB-5455-C197-B5A1-4AD6B0D6C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2B4B1-DFCE-38C1-AF02-1AC618310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22663-194B-BB00-8534-15807496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B7B7C-38E3-2028-DE9E-1140F2FB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4DCD7-2A20-F55B-0146-F400E02D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7649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B610-1374-5AB3-0401-B00565E5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2BC1F-DDB8-CBE2-540F-1EBFE93EA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2C592-E1A0-6196-7DBC-6CC88702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F9E41-BD89-2520-615C-D3C0F893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DA8BE-C666-DC44-77AD-522C44F8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289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92F8-4C6B-3042-33A9-62A26102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9E913-35DE-8470-F07C-112B8BC3E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10803-58E5-2D2B-16A0-F138FCC1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24DFA-ED0C-6BD6-D589-597B895E5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124B4-C95B-E752-716B-70083FD5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2969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AD0B3-3BA9-BBF0-C96C-B4A64B6F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7F86E-6965-3ED8-DD13-1A71E54F8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EE526-71CD-6D9C-8BC2-CB97A70F1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C9389-1AB1-40BB-CC00-AE7D3E9F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9A8D9-410C-3FF3-41E4-A0FA5B5E4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D1B31-60C0-BC59-2CAA-2A755544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914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B5218-4303-E588-8C16-22222BF83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AA47-9AE0-C443-4A1B-405F42633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4D6A2-DD49-35F7-F815-38F133442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0FCFE-21CA-D142-D1AF-20C6E88F0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E75A7-FAAC-5356-384A-A5BE14F0F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EB96CE-0F0D-846B-E061-951D29FCF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F53A1-BCAF-1F9F-B2AB-3EB17516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E189A6-2A08-A74E-561C-E51751B23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20281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7C4F-0D6C-B81B-0919-50D3BE13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1B16B-830A-81EB-793F-18889D80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89679-CF88-BEBC-1C93-C1B15B2D8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2175B-4B79-9B0E-CF6A-FF93D257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892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09E1E-15EA-C3CD-1326-1A90E85C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540DFF-E8E5-8C5B-E8C6-3B9F7B05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D8C7D-3CBA-3E20-BA89-C8CF40D98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477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4BE6-50EA-B4A0-2A3D-90CCEB64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256C1-8988-598D-8904-40F09272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69F11-9C60-3A1C-1915-BCE9849AD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9B53A-44F2-F724-454A-6036EB839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144A3-271F-DA60-C418-62E08972D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A9EC7-33DD-E062-3214-BFB8E1D6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864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7182-CA5A-9195-361F-B77DBC4F8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1DD628-82BD-64B1-FAD9-89B44D21F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29835-8688-C749-D437-EE2543B64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FF0F7-6B1C-54D2-5346-5FA48D79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0A200-AADA-D823-0F1D-2F61BA364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5FCD8-DF4F-0DF0-8787-A6D92459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867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E3938-5E38-5236-1B1D-6915260E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C203B-760C-E6A3-C6E9-707BA377B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E58A7-B326-1C05-2CB3-2BD17E5A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8946-874E-949C-33D3-AA1DC7413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D7AA1-EBAB-4243-9DE8-CF623BB7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089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6C791-7F1A-9113-42D8-F1A72962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E59ED-9118-CA02-B8E8-81556418C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03677-FF7D-2579-2643-5F21214C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4267C-ED10-81CD-17A4-16F3D47D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3317A-1C59-15A9-5E4A-AD2232A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276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F6988-45D7-84BB-093C-CD0161B1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6CBC2-59D5-085C-8566-C9F26A75B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51F72-41B9-25A2-EDF3-98CD94109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6958B-3EF9-0A42-A0EC-ACDD66186F5C}" type="datetimeFigureOut">
              <a:rPr lang="en-CN" smtClean="0"/>
              <a:t>2026/8/24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2C86F-9325-9D00-C409-0C7D03C2D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7526B-5E4C-DE68-86EA-2F8112F9C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CD4F6-404B-A94D-ABDF-0E68F8E9EC8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445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hyperlink" Target="https://arxiv.org/abs/1802.05365" TargetMode="External"/><Relationship Id="rId18" Type="http://schemas.openxmlformats.org/officeDocument/2006/relationships/hyperlink" Target="https://arxiv.org/pdf/2005.14165.pdf" TargetMode="External"/><Relationship Id="rId26" Type="http://schemas.openxmlformats.org/officeDocument/2006/relationships/hyperlink" Target="https://arxiv.org/pdf/2307.09288.pdf" TargetMode="External"/><Relationship Id="rId3" Type="http://schemas.openxmlformats.org/officeDocument/2006/relationships/hyperlink" Target="https://aclanthology.org/D07-1090.pdf" TargetMode="External"/><Relationship Id="rId21" Type="http://schemas.openxmlformats.org/officeDocument/2006/relationships/hyperlink" Target="https://arxiv.org/pdf/2101.00027.pdf" TargetMode="External"/><Relationship Id="rId7" Type="http://schemas.openxmlformats.org/officeDocument/2006/relationships/hyperlink" Target="https://arxiv.org/pdf/1409.0473.pdf" TargetMode="External"/><Relationship Id="rId12" Type="http://schemas.openxmlformats.org/officeDocument/2006/relationships/hyperlink" Target="https://arxiv.org/pdf/1909.08053.pdf" TargetMode="External"/><Relationship Id="rId17" Type="http://schemas.openxmlformats.org/officeDocument/2006/relationships/hyperlink" Target="https://arxiv.org/pdf/2001.08361.pdf" TargetMode="External"/><Relationship Id="rId25" Type="http://schemas.openxmlformats.org/officeDocument/2006/relationships/hyperlink" Target="https://arxiv.org/pdf/2302.13971.pdf" TargetMode="External"/><Relationship Id="rId33" Type="http://schemas.openxmlformats.org/officeDocument/2006/relationships/hyperlink" Target="https://arxiv.org/abs/2501.00656" TargetMode="External"/><Relationship Id="rId2" Type="http://schemas.openxmlformats.org/officeDocument/2006/relationships/hyperlink" Target="https://www.princeton.edu/~wbialek/rome/refs/shannon_51.pdf" TargetMode="External"/><Relationship Id="rId16" Type="http://schemas.openxmlformats.org/officeDocument/2006/relationships/hyperlink" Target="https://cdn.openai.com/better-language-models/language_models_are_unsupervised_multitask_learners.pdf" TargetMode="External"/><Relationship Id="rId20" Type="http://schemas.openxmlformats.org/officeDocument/2006/relationships/hyperlink" Target="https://arxiv.org/pdf/2203.15556.pdf" TargetMode="External"/><Relationship Id="rId29" Type="http://schemas.openxmlformats.org/officeDocument/2006/relationships/hyperlink" Target="https://arxiv.org/pdf/2401.02954.pdf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1412.6980.pdf" TargetMode="External"/><Relationship Id="rId11" Type="http://schemas.openxmlformats.org/officeDocument/2006/relationships/hyperlink" Target="https://arxiv.org/abs/1910.02054" TargetMode="External"/><Relationship Id="rId24" Type="http://schemas.openxmlformats.org/officeDocument/2006/relationships/hyperlink" Target="https://arxiv.org/abs/2211.05100" TargetMode="External"/><Relationship Id="rId32" Type="http://schemas.openxmlformats.org/officeDocument/2006/relationships/hyperlink" Target="https://arxiv.org/pdf/2402.00838.pdf" TargetMode="External"/><Relationship Id="rId5" Type="http://schemas.openxmlformats.org/officeDocument/2006/relationships/hyperlink" Target="https://arxiv.org/pdf/1409.3215.pdf" TargetMode="External"/><Relationship Id="rId15" Type="http://schemas.openxmlformats.org/officeDocument/2006/relationships/hyperlink" Target="https://arxiv.org/pdf/1910.10683.pdf" TargetMode="External"/><Relationship Id="rId23" Type="http://schemas.openxmlformats.org/officeDocument/2006/relationships/hyperlink" Target="https://arxiv.org/pdf/2205.01068.pdf" TargetMode="External"/><Relationship Id="rId28" Type="http://schemas.openxmlformats.org/officeDocument/2006/relationships/hyperlink" Target="https://arxiv.org/abs/2412.15115" TargetMode="External"/><Relationship Id="rId10" Type="http://schemas.openxmlformats.org/officeDocument/2006/relationships/hyperlink" Target="https://arxiv.org/pdf/1811.06965.pdf" TargetMode="External"/><Relationship Id="rId19" Type="http://schemas.openxmlformats.org/officeDocument/2006/relationships/hyperlink" Target="https://arxiv.org/pdf/2204.02311.pdf" TargetMode="External"/><Relationship Id="rId31" Type="http://schemas.openxmlformats.org/officeDocument/2006/relationships/hyperlink" Target="https://arxiv.org/pdf/2412.19437.pdf" TargetMode="External"/><Relationship Id="rId4" Type="http://schemas.openxmlformats.org/officeDocument/2006/relationships/hyperlink" Target="https://www.jmlr.org/papers/volume3/bengio03a/bengio03a.pdf" TargetMode="External"/><Relationship Id="rId9" Type="http://schemas.openxmlformats.org/officeDocument/2006/relationships/hyperlink" Target="https://arxiv.org/pdf/1701.06538.pdf" TargetMode="External"/><Relationship Id="rId14" Type="http://schemas.openxmlformats.org/officeDocument/2006/relationships/hyperlink" Target="https://arxiv.org/abs/1810.04805" TargetMode="External"/><Relationship Id="rId22" Type="http://schemas.openxmlformats.org/officeDocument/2006/relationships/hyperlink" Target="https://arankomatsuzaki.wordpress.com/2021/06/04/gpt-j/" TargetMode="External"/><Relationship Id="rId27" Type="http://schemas.openxmlformats.org/officeDocument/2006/relationships/hyperlink" Target="https://arxiv.org/abs/2407.21783" TargetMode="External"/><Relationship Id="rId30" Type="http://schemas.openxmlformats.org/officeDocument/2006/relationships/hyperlink" Target="https://arxiv.org/abs/2405.04434" TargetMode="External"/><Relationship Id="rId8" Type="http://schemas.openxmlformats.org/officeDocument/2006/relationships/hyperlink" Target="https://arxiv.org/pdf/1706.03762.pdf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google/innovation-and-ai/models-and-research/gemini-models/introducing-gemini-3-7-flash/" TargetMode="External"/><Relationship Id="rId3" Type="http://schemas.openxmlformats.org/officeDocument/2006/relationships/hyperlink" Target="https://arxiv.org/pdf/2412.19437.pdf" TargetMode="External"/><Relationship Id="rId7" Type="http://schemas.openxmlformats.org/officeDocument/2006/relationships/hyperlink" Target="https://x.ai/news/grok-4-5" TargetMode="External"/><Relationship Id="rId2" Type="http://schemas.openxmlformats.org/officeDocument/2006/relationships/hyperlink" Target="https://arxiv.org/pdf/2303.08774.pdf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nthropic.com/news/claude-opus-5" TargetMode="External"/><Relationship Id="rId5" Type="http://schemas.openxmlformats.org/officeDocument/2006/relationships/hyperlink" Target="https://openai.com/index/gpt-5-6/" TargetMode="External"/><Relationship Id="rId10" Type="http://schemas.openxmlformats.org/officeDocument/2006/relationships/hyperlink" Target="https://qwen.ai/blog?id=qwen3.8" TargetMode="External"/><Relationship Id="rId4" Type="http://schemas.openxmlformats.org/officeDocument/2006/relationships/hyperlink" Target="https://arxiv.org/pdf/2402.00838.pdf" TargetMode="External"/><Relationship Id="rId9" Type="http://schemas.openxmlformats.org/officeDocument/2006/relationships/hyperlink" Target="https://api-docs.deepseek.com/news/news2604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BBE858-9617-BC48-6BC8-A5DD7C73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57" y="294996"/>
            <a:ext cx="7772400" cy="565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7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D49A66-98BD-723E-0AE2-DEF92BDB9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88" y="22130"/>
            <a:ext cx="9338286" cy="683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67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B5E221-3BD6-29DB-6270-7FE628202463}"/>
              </a:ext>
            </a:extLst>
          </p:cNvPr>
          <p:cNvSpPr txBox="1"/>
          <p:nvPr/>
        </p:nvSpPr>
        <p:spPr>
          <a:xfrm>
            <a:off x="154565" y="0"/>
            <a:ext cx="11623777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500" dirty="0"/>
              <a:t>1. A mathematical theory of communication 1948 Claude Shannon</a:t>
            </a:r>
          </a:p>
          <a:p>
            <a:r>
              <a:rPr lang="en-CN" sz="1500" dirty="0"/>
              <a:t>2. Computing machinery and intelligence 1950</a:t>
            </a:r>
          </a:p>
          <a:p>
            <a:r>
              <a:rPr lang="en-CN" sz="1500" dirty="0"/>
              <a:t>3. The Perceptron: A Probabilistic Model for Information Storage and Organization in the Brain 1986</a:t>
            </a:r>
          </a:p>
          <a:p>
            <a:r>
              <a:rPr lang="en-US" altLang="zh-CN" sz="1500" dirty="0"/>
              <a:t>4.</a:t>
            </a:r>
            <a:r>
              <a:rPr lang="zh-CN" altLang="en-US" sz="1500" dirty="0"/>
              <a:t> </a:t>
            </a:r>
            <a:r>
              <a:rPr lang="en-US" altLang="zh-CN" sz="1500" dirty="0">
                <a:highlight>
                  <a:srgbClr val="FFFF00"/>
                </a:highlight>
              </a:rPr>
              <a:t>1986</a:t>
            </a:r>
            <a:r>
              <a:rPr lang="en-US" altLang="zh-CN" sz="1500" dirty="0"/>
              <a:t> </a:t>
            </a:r>
            <a:r>
              <a:rPr lang="en-CN" altLang="zh-CN" sz="1500" dirty="0"/>
              <a:t>Learning Representations by back-propagating errors</a:t>
            </a:r>
            <a:endParaRPr lang="en-CN" sz="1500" dirty="0"/>
          </a:p>
          <a:p>
            <a:r>
              <a:rPr lang="en-CN" sz="1500" dirty="0">
                <a:highlight>
                  <a:srgbClr val="00FF00"/>
                </a:highlight>
              </a:rPr>
              <a:t>5. LeNet (1998 </a:t>
            </a:r>
            <a:r>
              <a:rPr lang="en-CN" sz="1500" dirty="0"/>
              <a:t>Gradient-based learning applied to document recognition)</a:t>
            </a:r>
          </a:p>
          <a:p>
            <a:r>
              <a:rPr lang="en-CN" sz="1500" dirty="0">
                <a:highlight>
                  <a:srgbClr val="00FF00"/>
                </a:highlight>
              </a:rPr>
              <a:t>6. lmageNet (2009 </a:t>
            </a:r>
            <a:r>
              <a:rPr lang="en-CN" sz="1500" dirty="0"/>
              <a:t>a large-scale hierarchical image database )</a:t>
            </a:r>
          </a:p>
          <a:p>
            <a:r>
              <a:rPr lang="en-CN" sz="1500" dirty="0">
                <a:highlight>
                  <a:srgbClr val="00FF00"/>
                </a:highlight>
              </a:rPr>
              <a:t>7. AlexNet(2012 </a:t>
            </a:r>
            <a:r>
              <a:rPr lang="en-CN" sz="1500" dirty="0"/>
              <a:t>lmageNet classification with deep convolutional neural networks)</a:t>
            </a:r>
          </a:p>
          <a:p>
            <a:r>
              <a:rPr lang="en-CN" sz="1500" dirty="0"/>
              <a:t>8. Word2Vec(2013 </a:t>
            </a:r>
            <a:r>
              <a:rPr lang="en-US" sz="1500" dirty="0"/>
              <a:t>Efficient Estimation of Word Representations in Vector Space</a:t>
            </a:r>
            <a:r>
              <a:rPr lang="en-CN" sz="1500" dirty="0"/>
              <a:t>)</a:t>
            </a:r>
          </a:p>
          <a:p>
            <a:r>
              <a:rPr lang="en-CN" sz="1500" dirty="0">
                <a:highlight>
                  <a:srgbClr val="00FF00"/>
                </a:highlight>
              </a:rPr>
              <a:t>9. GAN(2014 </a:t>
            </a:r>
            <a:r>
              <a:rPr lang="en-CN" sz="1500" dirty="0"/>
              <a:t>Generative Adversarial Networks).</a:t>
            </a:r>
          </a:p>
          <a:p>
            <a:r>
              <a:rPr lang="en-CN" sz="1500" dirty="0"/>
              <a:t>10. Gaussian Splatting(2014)</a:t>
            </a:r>
          </a:p>
          <a:p>
            <a:r>
              <a:rPr lang="en-US" sz="1500" dirty="0">
                <a:highlight>
                  <a:srgbClr val="00FF00"/>
                </a:highlight>
              </a:rPr>
              <a:t>11. Seq2Seq(2014 </a:t>
            </a:r>
            <a:r>
              <a:rPr lang="en-US" sz="1500" dirty="0"/>
              <a:t>Sequence to Sequence Learning with Neural Networks)</a:t>
            </a:r>
          </a:p>
          <a:p>
            <a:r>
              <a:rPr lang="en-CN" sz="1500" dirty="0"/>
              <a:t>12. </a:t>
            </a: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Attention Mechanism (2014 for machine translation)</a:t>
            </a:r>
            <a:endParaRPr lang="en-CN" sz="1500" dirty="0"/>
          </a:p>
          <a:p>
            <a:r>
              <a:rPr lang="en-CN" sz="1500" dirty="0"/>
              <a:t>13. R-CNN(2014 Rich feature hierarchies for accurate object detection and semantic segmentation</a:t>
            </a:r>
          </a:p>
          <a:p>
            <a:r>
              <a:rPr lang="en-US" sz="1500" dirty="0">
                <a:highlight>
                  <a:srgbClr val="00FF00"/>
                </a:highlight>
              </a:rPr>
              <a:t>14. ADAM(2014): </a:t>
            </a:r>
            <a:r>
              <a:rPr lang="en-US" sz="1500" dirty="0"/>
              <a:t>A METHOD FOR STOCHASTIC OPTIMIZATION</a:t>
            </a:r>
            <a:endParaRPr lang="en-CN" sz="1500" dirty="0"/>
          </a:p>
          <a:p>
            <a:r>
              <a:rPr lang="en-CN" sz="1500" dirty="0"/>
              <a:t>15. Faster R-CNN (2015 towards real-time obiect detection with region proposal networks).</a:t>
            </a:r>
          </a:p>
          <a:p>
            <a:r>
              <a:rPr lang="en-CN" sz="1500" dirty="0">
                <a:highlight>
                  <a:srgbClr val="FFFF00"/>
                </a:highlight>
              </a:rPr>
              <a:t>16. ResNet (2015 </a:t>
            </a:r>
            <a:r>
              <a:rPr lang="en-CN" sz="1500" dirty="0"/>
              <a:t>Deep Residual Learning for lmage Recognition).</a:t>
            </a:r>
          </a:p>
          <a:p>
            <a:r>
              <a:rPr lang="en-US" altLang="zh-CN" sz="1500" dirty="0"/>
              <a:t>17.</a:t>
            </a:r>
            <a:r>
              <a:rPr lang="zh-CN" altLang="en-US" sz="1500" dirty="0"/>
              <a:t> </a:t>
            </a:r>
            <a:r>
              <a:rPr lang="en-US" sz="1600" dirty="0"/>
              <a:t>Deep Learning</a:t>
            </a:r>
            <a:r>
              <a:rPr lang="en-US" sz="1500" dirty="0"/>
              <a:t>(</a:t>
            </a:r>
            <a:r>
              <a:rPr lang="en-US" sz="1500" dirty="0">
                <a:highlight>
                  <a:srgbClr val="FFFF00"/>
                </a:highlight>
              </a:rPr>
              <a:t>2015)</a:t>
            </a:r>
            <a:endParaRPr lang="en-CN" sz="1500" dirty="0">
              <a:highlight>
                <a:srgbClr val="FFFF00"/>
              </a:highlight>
            </a:endParaRPr>
          </a:p>
          <a:p>
            <a:r>
              <a:rPr lang="en-CN" sz="1500" dirty="0">
                <a:highlight>
                  <a:srgbClr val="FFFF00"/>
                </a:highlight>
              </a:rPr>
              <a:t>17. Transformer(2017 </a:t>
            </a:r>
            <a:r>
              <a:rPr lang="en-CN" sz="1500" dirty="0"/>
              <a:t>"Attention is All You Need )</a:t>
            </a:r>
          </a:p>
          <a:p>
            <a:r>
              <a:rPr lang="en-CN" sz="1500" dirty="0">
                <a:highlight>
                  <a:srgbClr val="FFFF00"/>
                </a:highlight>
              </a:rPr>
              <a:t>18. MoE (2017 </a:t>
            </a:r>
            <a:r>
              <a:rPr lang="en-US" sz="1500" dirty="0"/>
              <a:t>Outrageously Large Neural Networks: The Sparsely-Gated Mixture-of-Experts Layer</a:t>
            </a:r>
            <a:r>
              <a:rPr lang="en-CN" sz="1500" dirty="0"/>
              <a:t>)</a:t>
            </a:r>
          </a:p>
          <a:p>
            <a:r>
              <a:rPr lang="en-CN" sz="1500" dirty="0"/>
              <a:t>19. 《Proximal Policy Optimization》2017</a:t>
            </a:r>
          </a:p>
          <a:p>
            <a:r>
              <a:rPr lang="en-CN" sz="1500" dirty="0">
                <a:highlight>
                  <a:srgbClr val="00FF00"/>
                </a:highlight>
              </a:rPr>
              <a:t>20. BERT (2018 </a:t>
            </a:r>
            <a:r>
              <a:rPr lang="en-CN" sz="1500" dirty="0"/>
              <a:t>Pre-training of Deep Bidirectional Transformers for Language Understanding)</a:t>
            </a:r>
          </a:p>
          <a:p>
            <a:r>
              <a:rPr lang="en-CN" sz="1500" dirty="0">
                <a:highlight>
                  <a:srgbClr val="FFFF00"/>
                </a:highlight>
              </a:rPr>
              <a:t>20. GPT-3 (2020 </a:t>
            </a:r>
            <a:r>
              <a:rPr lang="en-CN" sz="1500" dirty="0"/>
              <a:t>Language Models are Few-Shot Learners),</a:t>
            </a:r>
          </a:p>
          <a:p>
            <a:r>
              <a:rPr lang="en-CN" sz="1500" dirty="0"/>
              <a:t>21. ViT(2020 vision transformer)</a:t>
            </a:r>
          </a:p>
          <a:p>
            <a:r>
              <a:rPr lang="en-CN" sz="1500" dirty="0">
                <a:highlight>
                  <a:srgbClr val="00FF00"/>
                </a:highlight>
              </a:rPr>
              <a:t>22.DDPM(2020 </a:t>
            </a:r>
            <a:r>
              <a:rPr lang="en-US" sz="1500" dirty="0"/>
              <a:t>Denoising Diffusion Probabilistic Models</a:t>
            </a:r>
            <a:r>
              <a:rPr lang="en-CN" sz="1500" dirty="0"/>
              <a:t>)</a:t>
            </a:r>
          </a:p>
          <a:p>
            <a:r>
              <a:rPr lang="en-CN" sz="1500" dirty="0"/>
              <a:t>23.NeRF( 2020 Representing Scenes as Neural Radiance Fields for View Synthesis)</a:t>
            </a:r>
          </a:p>
          <a:p>
            <a:r>
              <a:rPr lang="en-CN" sz="1500" dirty="0">
                <a:highlight>
                  <a:srgbClr val="FFFF00"/>
                </a:highlight>
              </a:rPr>
              <a:t>24. CLIP( 2021 </a:t>
            </a:r>
            <a:r>
              <a:rPr lang="en-CN" sz="1500" dirty="0"/>
              <a:t>Learning Transferable Visual Models From Natural Language Supervision </a:t>
            </a:r>
          </a:p>
          <a:p>
            <a:r>
              <a:rPr lang="en-CN" sz="1500" dirty="0"/>
              <a:t>25.</a:t>
            </a:r>
            <a:r>
              <a:rPr lang="en-US" sz="1500" dirty="0"/>
              <a:t> </a:t>
            </a:r>
            <a:r>
              <a:rPr lang="en-US" sz="1500" dirty="0" err="1"/>
              <a:t>LoRA</a:t>
            </a:r>
            <a:r>
              <a:rPr lang="en-US" sz="1500" dirty="0"/>
              <a:t>(2021 Low-Rank Adaptation of Large Language Models</a:t>
            </a:r>
          </a:p>
          <a:p>
            <a:r>
              <a:rPr lang="en-US" sz="1500" dirty="0"/>
              <a:t>26. </a:t>
            </a:r>
            <a:r>
              <a:rPr lang="en-US" sz="1500" dirty="0" err="1"/>
              <a:t>CoT</a:t>
            </a:r>
            <a:r>
              <a:rPr lang="en-US" sz="1500" dirty="0"/>
              <a:t>(2022 Chain-of-Thought Prompting Elicits Reasoning in Large Language Models)</a:t>
            </a:r>
          </a:p>
          <a:p>
            <a:r>
              <a:rPr lang="en-US" sz="1500" dirty="0"/>
              <a:t>27. </a:t>
            </a:r>
            <a:r>
              <a:rPr lang="en-US" sz="1500" dirty="0" err="1"/>
              <a:t>ReAct</a:t>
            </a:r>
            <a:r>
              <a:rPr lang="en-US" sz="1500" dirty="0"/>
              <a:t>(2023 Synergizing Reasoning and Acting in Language Models)</a:t>
            </a:r>
          </a:p>
          <a:p>
            <a:r>
              <a:rPr lang="en-US" sz="1500" dirty="0"/>
              <a:t>28. </a:t>
            </a:r>
            <a:r>
              <a:rPr lang="en-US" sz="1500" dirty="0">
                <a:highlight>
                  <a:srgbClr val="FFFF00"/>
                </a:highlight>
              </a:rPr>
              <a:t>The bitter Lesson 2019</a:t>
            </a:r>
          </a:p>
          <a:p>
            <a:r>
              <a:rPr lang="en-US" sz="1500" dirty="0"/>
              <a:t>29</a:t>
            </a:r>
            <a:r>
              <a:rPr lang="en-US" sz="1500" dirty="0">
                <a:highlight>
                  <a:srgbClr val="FFFF00"/>
                </a:highlight>
              </a:rPr>
              <a:t>. AlphaGo Zero(2017 </a:t>
            </a:r>
            <a:r>
              <a:rPr lang="en-US" sz="1500" dirty="0"/>
              <a:t>Mastering Chess and Shogi by Self-Play with a General Reinforcement Learning Algorithm)</a:t>
            </a:r>
          </a:p>
          <a:p>
            <a:r>
              <a:rPr lang="en-US" sz="1500" dirty="0"/>
              <a:t>30. DeepSeek-R1: Incentivizing Reasoning Capability in LLMs via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156134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58B8AB-D772-F72A-2DD2-7DD2708AA00F}"/>
              </a:ext>
            </a:extLst>
          </p:cNvPr>
          <p:cNvSpPr txBox="1"/>
          <p:nvPr/>
        </p:nvSpPr>
        <p:spPr>
          <a:xfrm>
            <a:off x="0" y="0"/>
            <a:ext cx="12515850" cy="678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sz="1500" b="1" i="0" dirty="0">
                <a:solidFill>
                  <a:srgbClr val="213547"/>
                </a:solidFill>
                <a:effectLst/>
                <a:latin typeface="system-ui"/>
              </a:rPr>
              <a:t>Pre-neural (before 2010s)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Language model to measure the entropy of English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"/>
              </a:rPr>
              <a:t>[Shannon 1950]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Lots of work on n-gram language models (for machine translation, speech recognition) 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3"/>
              </a:rPr>
              <a:t>[Brants+ 2007]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/>
            <a:r>
              <a:rPr lang="en-US" sz="1500" b="1" i="0" dirty="0">
                <a:solidFill>
                  <a:srgbClr val="213547"/>
                </a:solidFill>
                <a:effectLst/>
                <a:latin typeface="system-ui"/>
              </a:rPr>
              <a:t>Neural ingredients (2010s)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First neural language model 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4"/>
              </a:rPr>
              <a:t>[Bengio+ 2003]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Sequence-to-sequence modeling (for machine translation)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5"/>
              </a:rPr>
              <a:t>[Sutskever+ 2014]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Adam optimizer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6"/>
              </a:rPr>
              <a:t>[Kingma+ 2014]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Attention mechanism (for machine translation) 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7"/>
              </a:rPr>
              <a:t>[Bahdanau+ 2014]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Transformer architecture (for machine translation) 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8"/>
              </a:rPr>
              <a:t>[Vaswani+ 2017]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Mixture of experts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9"/>
              </a:rPr>
              <a:t>[Shazeer+ 2017]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Model parallelism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10"/>
              </a:rPr>
              <a:t>[Huang+ 2018]</a:t>
            </a:r>
            <a:r>
              <a:rPr lang="en-US" sz="1500" dirty="0">
                <a:solidFill>
                  <a:srgbClr val="213547"/>
                </a:solidFill>
                <a:latin typeface="system-ui"/>
              </a:rPr>
              <a:t> 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11"/>
              </a:rPr>
              <a:t>[Rajbhandari+ 2019]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12"/>
              </a:rPr>
              <a:t>[Shoeybi+ 2019]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/>
            <a:r>
              <a:rPr lang="en-US" sz="1500" b="1" i="0" dirty="0">
                <a:solidFill>
                  <a:srgbClr val="213547"/>
                </a:solidFill>
                <a:effectLst/>
                <a:latin typeface="system-ui"/>
              </a:rPr>
              <a:t>Early foundation models (late 2010s)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 err="1">
                <a:solidFill>
                  <a:srgbClr val="213547"/>
                </a:solidFill>
                <a:effectLst/>
                <a:latin typeface="system-ui"/>
              </a:rPr>
              <a:t>ELMo</a:t>
            </a: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: pretraining with LSTMs, fine-tuning helps tasks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13"/>
              </a:rPr>
              <a:t>[Peters+ 2018]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BERT: pretraining with Transformer, fine-tuning helps tasks 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14"/>
              </a:rPr>
              <a:t>[Devlin+ 2018]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Google's T5 (11B): cast everything as text-to-text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15"/>
              </a:rPr>
              <a:t>[Raffel+ 2019]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/>
            <a:r>
              <a:rPr lang="en-US" sz="1500" b="1" i="0" dirty="0">
                <a:solidFill>
                  <a:srgbClr val="213547"/>
                </a:solidFill>
                <a:effectLst/>
                <a:latin typeface="system-ui"/>
              </a:rPr>
              <a:t>Embracing scaling, more closed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 err="1">
                <a:solidFill>
                  <a:srgbClr val="213547"/>
                </a:solidFill>
                <a:effectLst/>
                <a:latin typeface="system-ui"/>
              </a:rPr>
              <a:t>OpenAI's</a:t>
            </a: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 GPT-2 (1.5B): fluent text, first signs of zero-shot, staged release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16"/>
              </a:rPr>
              <a:t>[Radford+ 2019]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Scaling laws: provide hope / predictability for scaling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17"/>
              </a:rPr>
              <a:t>[Kaplan+ 2020]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 err="1">
                <a:solidFill>
                  <a:srgbClr val="213547"/>
                </a:solidFill>
                <a:effectLst/>
                <a:latin typeface="system-ui"/>
              </a:rPr>
              <a:t>OpenAI's</a:t>
            </a: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 GPT-3 (175B): in-context learning, closed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18"/>
              </a:rPr>
              <a:t>[Brown+ 2020]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Google's </a:t>
            </a:r>
            <a:r>
              <a:rPr lang="en-US" sz="1500" b="0" i="0" dirty="0" err="1">
                <a:solidFill>
                  <a:srgbClr val="213547"/>
                </a:solidFill>
                <a:effectLst/>
                <a:latin typeface="system-ui"/>
              </a:rPr>
              <a:t>PaLM</a:t>
            </a: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 (540B): massive scale, undertrained 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19"/>
              </a:rPr>
              <a:t>[Chowdhery+ 2022]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DeepMind's Chinchilla (70B): compute-optimal scaling laws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0"/>
              </a:rPr>
              <a:t>[Hoffmann+ 2022]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/>
            <a:r>
              <a:rPr lang="en-US" sz="1500" b="1" i="0" dirty="0">
                <a:solidFill>
                  <a:srgbClr val="213547"/>
                </a:solidFill>
                <a:effectLst/>
                <a:latin typeface="system-ui"/>
              </a:rPr>
              <a:t>Open models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 err="1">
                <a:solidFill>
                  <a:srgbClr val="213547"/>
                </a:solidFill>
                <a:effectLst/>
                <a:latin typeface="system-ui"/>
              </a:rPr>
              <a:t>EleutherAI's</a:t>
            </a: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 open datasets (The Pile) and models (GPT-J) 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1"/>
              </a:rPr>
              <a:t>[Gao+ 2020]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2"/>
              </a:rPr>
              <a:t>[Wang+ 2021]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Meta's OPT (175B): GPT-3 replication, lots of hardware issues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3"/>
              </a:rPr>
              <a:t>[Zhang+ 2022]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Hugging Face / </a:t>
            </a:r>
            <a:r>
              <a:rPr lang="en-US" sz="1500" b="0" i="0" dirty="0" err="1">
                <a:solidFill>
                  <a:srgbClr val="213547"/>
                </a:solidFill>
                <a:effectLst/>
                <a:latin typeface="system-ui"/>
              </a:rPr>
              <a:t>BigScience's</a:t>
            </a: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 BLOOM: focused on data sourcing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4"/>
              </a:rPr>
              <a:t>[Workshop+ 2022]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Meta's Llama models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5"/>
              </a:rPr>
              <a:t>[Touvron+ 2023]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6"/>
              </a:rPr>
              <a:t>[Touvron+ 2023]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7"/>
              </a:rPr>
              <a:t>[Grattafiori+ 2024]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Alibaba's </a:t>
            </a:r>
            <a:r>
              <a:rPr lang="en-US" sz="1500" b="0" i="0" dirty="0" err="1">
                <a:solidFill>
                  <a:srgbClr val="213547"/>
                </a:solidFill>
                <a:effectLst/>
                <a:latin typeface="system-ui"/>
              </a:rPr>
              <a:t>Qwen</a:t>
            </a: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 models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8"/>
              </a:rPr>
              <a:t>[Qwen+ 2024]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 err="1">
                <a:solidFill>
                  <a:srgbClr val="213547"/>
                </a:solidFill>
                <a:effectLst/>
                <a:latin typeface="system-ui"/>
              </a:rPr>
              <a:t>DeepSeek's</a:t>
            </a: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 models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29"/>
              </a:rPr>
              <a:t>[DeepSeek-AI+ 2024]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30"/>
              </a:rPr>
              <a:t>[DeepSeek-AI+ 2024]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31"/>
              </a:rPr>
              <a:t>[DeepSeek-AI+ 2024]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AI2's </a:t>
            </a:r>
            <a:r>
              <a:rPr lang="en-US" sz="1500" b="0" i="0" dirty="0" err="1">
                <a:solidFill>
                  <a:srgbClr val="213547"/>
                </a:solidFill>
                <a:effectLst/>
                <a:latin typeface="system-ui"/>
              </a:rPr>
              <a:t>OLMo</a:t>
            </a:r>
            <a:r>
              <a:rPr lang="en-US" sz="1500" b="0" i="0" dirty="0">
                <a:solidFill>
                  <a:srgbClr val="213547"/>
                </a:solidFill>
                <a:effectLst/>
                <a:latin typeface="system-ui"/>
              </a:rPr>
              <a:t> 2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32"/>
              </a:rPr>
              <a:t>[Groeneveld+ 2024]</a:t>
            </a:r>
            <a:r>
              <a:rPr lang="en-US" sz="1500" b="0" i="0" dirty="0">
                <a:solidFill>
                  <a:srgbClr val="646CFF"/>
                </a:solidFill>
                <a:effectLst/>
                <a:latin typeface="system-ui"/>
                <a:hlinkClick r:id="rId33"/>
              </a:rPr>
              <a:t>[OLMo+ 2024]</a:t>
            </a:r>
            <a:endParaRPr lang="en-US" sz="1500" b="0" i="0" dirty="0">
              <a:solidFill>
                <a:srgbClr val="213547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4214702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51CEAC-D7D6-1117-FAF9-D2815273FB31}"/>
              </a:ext>
            </a:extLst>
          </p:cNvPr>
          <p:cNvSpPr txBox="1"/>
          <p:nvPr/>
        </p:nvSpPr>
        <p:spPr>
          <a:xfrm>
            <a:off x="337456" y="376374"/>
            <a:ext cx="85561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/>
            <a:r>
              <a:rPr lang="en-US" sz="1800" b="1" i="0" dirty="0">
                <a:solidFill>
                  <a:srgbClr val="213547"/>
                </a:solidFill>
                <a:effectLst/>
                <a:latin typeface="system-ui"/>
              </a:rPr>
              <a:t>Levels of openness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3547"/>
                </a:solidFill>
                <a:effectLst/>
                <a:latin typeface="system-ui"/>
              </a:rPr>
              <a:t>Closed models (e.g., GPT-4o): API access only </a:t>
            </a:r>
            <a:r>
              <a:rPr lang="en-US" sz="1800" b="0" i="0" dirty="0">
                <a:solidFill>
                  <a:srgbClr val="646CFF"/>
                </a:solidFill>
                <a:effectLst/>
                <a:latin typeface="system-ui"/>
                <a:hlinkClick r:id="rId2"/>
              </a:rPr>
              <a:t>[OpenAI+ 2023]</a:t>
            </a:r>
            <a:endParaRPr lang="en-US" sz="18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3547"/>
                </a:solidFill>
                <a:effectLst/>
                <a:latin typeface="system-ui"/>
              </a:rPr>
              <a:t>Open-weight models (e.g., </a:t>
            </a:r>
            <a:r>
              <a:rPr lang="en-US" sz="1800" b="0" i="0" dirty="0" err="1">
                <a:solidFill>
                  <a:srgbClr val="213547"/>
                </a:solidFill>
                <a:effectLst/>
                <a:latin typeface="system-ui"/>
              </a:rPr>
              <a:t>DeepSeek</a:t>
            </a:r>
            <a:r>
              <a:rPr lang="en-US" sz="1800" b="0" i="0" dirty="0">
                <a:solidFill>
                  <a:srgbClr val="213547"/>
                </a:solidFill>
                <a:effectLst/>
                <a:latin typeface="system-ui"/>
              </a:rPr>
              <a:t>): weights available, paper with architecture details, some training details, no data details </a:t>
            </a:r>
            <a:r>
              <a:rPr lang="en-US" sz="1800" b="0" i="0" dirty="0">
                <a:solidFill>
                  <a:srgbClr val="646CFF"/>
                </a:solidFill>
                <a:effectLst/>
                <a:latin typeface="system-ui"/>
                <a:hlinkClick r:id="rId3"/>
              </a:rPr>
              <a:t>[DeepSeek-AI+ 2024]</a:t>
            </a:r>
            <a:endParaRPr lang="en-US" sz="18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3547"/>
                </a:solidFill>
                <a:effectLst/>
                <a:latin typeface="system-ui"/>
              </a:rPr>
              <a:t>Open-source models (e.g., </a:t>
            </a:r>
            <a:r>
              <a:rPr lang="en-US" sz="1800" b="0" i="0" dirty="0" err="1">
                <a:solidFill>
                  <a:srgbClr val="213547"/>
                </a:solidFill>
                <a:effectLst/>
                <a:latin typeface="system-ui"/>
              </a:rPr>
              <a:t>OLMo</a:t>
            </a:r>
            <a:r>
              <a:rPr lang="en-US" sz="1800" b="0" i="0" dirty="0">
                <a:solidFill>
                  <a:srgbClr val="213547"/>
                </a:solidFill>
                <a:effectLst/>
                <a:latin typeface="system-ui"/>
              </a:rPr>
              <a:t>): weights and data available, paper with most details (but not necessarily the rationale, failed experiments)</a:t>
            </a:r>
            <a:r>
              <a:rPr lang="en-US" sz="1800" b="0" i="0" dirty="0">
                <a:solidFill>
                  <a:srgbClr val="646CFF"/>
                </a:solidFill>
                <a:effectLst/>
                <a:latin typeface="system-ui"/>
                <a:hlinkClick r:id="rId4"/>
              </a:rPr>
              <a:t>[Groeneveld+ 2024]</a:t>
            </a:r>
            <a:endParaRPr lang="en-US" sz="18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/>
            <a:r>
              <a:rPr lang="en-US" sz="1800" b="1" i="0" dirty="0">
                <a:solidFill>
                  <a:srgbClr val="213547"/>
                </a:solidFill>
                <a:effectLst/>
                <a:latin typeface="system-ui"/>
              </a:rPr>
              <a:t>Today's frontier models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13547"/>
                </a:solidFill>
                <a:latin typeface="system-ui"/>
              </a:rPr>
              <a:t>OpenAI's</a:t>
            </a:r>
            <a:r>
              <a:rPr lang="en-US" dirty="0">
                <a:solidFill>
                  <a:srgbClr val="213547"/>
                </a:solidFill>
                <a:latin typeface="system-ui"/>
              </a:rPr>
              <a:t> </a:t>
            </a:r>
            <a:r>
              <a:rPr lang="en-US" dirty="0">
                <a:solidFill>
                  <a:srgbClr val="213547"/>
                </a:solidFill>
                <a:highlight>
                  <a:srgbClr val="FFFF00"/>
                </a:highlight>
                <a:latin typeface="system-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GPT-5.6 Series Sol</a:t>
            </a:r>
            <a:r>
              <a:rPr lang="en-US" dirty="0">
                <a:solidFill>
                  <a:srgbClr val="213547"/>
                </a:solidFill>
                <a:highlight>
                  <a:srgbClr val="FFFF00"/>
                </a:highlight>
                <a:latin typeface="system-ui"/>
              </a:rPr>
              <a:t> 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13547"/>
                </a:solidFill>
                <a:latin typeface="system-ui"/>
              </a:rPr>
              <a:t>Anthropic's</a:t>
            </a:r>
            <a:r>
              <a:rPr lang="en-US" dirty="0">
                <a:solidFill>
                  <a:srgbClr val="213547"/>
                </a:solidFill>
                <a:latin typeface="system-ui"/>
              </a:rPr>
              <a:t> </a:t>
            </a:r>
            <a:r>
              <a:rPr lang="en-US" dirty="0">
                <a:solidFill>
                  <a:srgbClr val="213547"/>
                </a:solidFill>
                <a:highlight>
                  <a:srgbClr val="FFFF00"/>
                </a:highlight>
                <a:latin typeface="system-ui"/>
              </a:rPr>
              <a:t>Claude Fable5/</a:t>
            </a:r>
            <a:r>
              <a:rPr lang="en-US" dirty="0">
                <a:solidFill>
                  <a:srgbClr val="213547"/>
                </a:solidFill>
                <a:highlight>
                  <a:srgbClr val="FFFF00"/>
                </a:highlight>
                <a:latin typeface="system-u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Opus 5</a:t>
            </a:r>
            <a:endParaRPr lang="en-US" dirty="0">
              <a:solidFill>
                <a:srgbClr val="213547"/>
              </a:solidFill>
              <a:highlight>
                <a:srgbClr val="FFFF00"/>
              </a:highlight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3547"/>
                </a:solidFill>
                <a:highlight>
                  <a:srgbClr val="FFFF00"/>
                </a:highlight>
                <a:latin typeface="system-ui"/>
              </a:rPr>
              <a:t>Kimi K3 </a:t>
            </a:r>
            <a:r>
              <a:rPr lang="en-US" dirty="0">
                <a:solidFill>
                  <a:srgbClr val="213547"/>
                </a:solidFill>
                <a:latin typeface="system-ui"/>
              </a:rPr>
              <a:t>https://</a:t>
            </a:r>
            <a:r>
              <a:rPr lang="en-US" dirty="0" err="1">
                <a:solidFill>
                  <a:srgbClr val="213547"/>
                </a:solidFill>
                <a:latin typeface="system-ui"/>
              </a:rPr>
              <a:t>www.kimi.com</a:t>
            </a:r>
            <a:r>
              <a:rPr lang="en-US" dirty="0">
                <a:solidFill>
                  <a:srgbClr val="213547"/>
                </a:solidFill>
                <a:latin typeface="system-ui"/>
              </a:rPr>
              <a:t>/</a:t>
            </a:r>
            <a:r>
              <a:rPr lang="en-US" dirty="0" err="1">
                <a:solidFill>
                  <a:srgbClr val="213547"/>
                </a:solidFill>
                <a:latin typeface="system-ui"/>
              </a:rPr>
              <a:t>en</a:t>
            </a:r>
            <a:r>
              <a:rPr lang="en-US" dirty="0">
                <a:solidFill>
                  <a:srgbClr val="213547"/>
                </a:solidFill>
                <a:latin typeface="system-ui"/>
              </a:rPr>
              <a:t>/blog/kimi-k3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800" b="0" i="0" dirty="0" err="1">
                <a:solidFill>
                  <a:srgbClr val="213547"/>
                </a:solidFill>
                <a:effectLst/>
                <a:latin typeface="system-ui"/>
              </a:rPr>
              <a:t>xAI's</a:t>
            </a:r>
            <a:r>
              <a:rPr lang="en-US" sz="1800" b="0" i="0" dirty="0">
                <a:solidFill>
                  <a:srgbClr val="213547"/>
                </a:solidFill>
                <a:effectLst/>
                <a:latin typeface="system-ui"/>
              </a:rPr>
              <a:t> </a:t>
            </a:r>
            <a:r>
              <a:rPr lang="en-US" b="0" i="0" u="none" strike="noStrike" dirty="0">
                <a:solidFill>
                  <a:srgbClr val="0070C9"/>
                </a:solidFill>
                <a:effectLst/>
                <a:latin typeface="Public Sans"/>
                <a:hlinkClick r:id="rId7"/>
              </a:rPr>
              <a:t>Grok-4.5</a:t>
            </a:r>
            <a:endParaRPr lang="en-US" sz="1800" b="0" i="0" dirty="0">
              <a:solidFill>
                <a:srgbClr val="213547"/>
              </a:solidFill>
              <a:effectLst/>
              <a:latin typeface="system-ui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3547"/>
                </a:solidFill>
                <a:effectLst/>
                <a:latin typeface="system-ui"/>
              </a:rPr>
              <a:t>Google’s  </a:t>
            </a:r>
            <a:r>
              <a:rPr lang="en-US" b="0" i="0" u="none" strike="noStrike" dirty="0">
                <a:solidFill>
                  <a:srgbClr val="0070C9"/>
                </a:solidFill>
                <a:effectLst/>
                <a:latin typeface="Public Sans"/>
                <a:hlinkClick r:id="rId8"/>
              </a:rPr>
              <a:t>Gemini-3.7-Flash</a:t>
            </a:r>
            <a:r>
              <a:rPr lang="en-US" b="0" i="0" u="none" strike="noStrike" dirty="0">
                <a:solidFill>
                  <a:srgbClr val="0070C9"/>
                </a:solidFill>
                <a:effectLst/>
                <a:latin typeface="Public Sans"/>
              </a:rPr>
              <a:t> &amp;  Gemini-3.1-Pro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800" b="0" i="0" dirty="0" err="1">
                <a:solidFill>
                  <a:srgbClr val="213547"/>
                </a:solidFill>
                <a:effectLst/>
                <a:latin typeface="system-ui"/>
              </a:rPr>
              <a:t>DeepSeek's</a:t>
            </a:r>
            <a:r>
              <a:rPr lang="en-US" sz="1800" b="0" i="0" dirty="0">
                <a:solidFill>
                  <a:srgbClr val="213547"/>
                </a:solidFill>
                <a:effectLst/>
                <a:latin typeface="system-ui"/>
              </a:rPr>
              <a:t> </a:t>
            </a:r>
            <a:r>
              <a:rPr lang="en-US" b="0" i="0" u="none" strike="noStrike" dirty="0">
                <a:solidFill>
                  <a:srgbClr val="0070C9"/>
                </a:solidFill>
                <a:effectLst/>
                <a:latin typeface="Public Sans"/>
                <a:hlinkClick r:id="rId9"/>
              </a:rPr>
              <a:t>DeepSeek-V4-Pro</a:t>
            </a:r>
            <a:endParaRPr lang="en-US" b="0" i="0" u="none" strike="noStrike" dirty="0">
              <a:solidFill>
                <a:srgbClr val="0070C9"/>
              </a:solidFill>
              <a:effectLst/>
              <a:latin typeface="Public Sans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3547"/>
                </a:solidFill>
                <a:effectLst/>
                <a:latin typeface="system-ui"/>
              </a:rPr>
              <a:t>Alibaba's </a:t>
            </a:r>
            <a:r>
              <a:rPr lang="en-US" b="0" i="0" u="sng" dirty="0">
                <a:solidFill>
                  <a:srgbClr val="0070C9"/>
                </a:solidFill>
                <a:effectLst/>
                <a:latin typeface="Public Sans"/>
                <a:hlinkClick r:id="rId10"/>
              </a:rPr>
              <a:t>Qwen3.8-Max</a:t>
            </a:r>
            <a:r>
              <a:rPr lang="en-US" b="0" i="0" u="sng" dirty="0">
                <a:solidFill>
                  <a:srgbClr val="0070C9"/>
                </a:solidFill>
                <a:effectLst/>
                <a:latin typeface="Public San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0028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843</Words>
  <Application>Microsoft Macintosh PowerPoint</Application>
  <PresentationFormat>Widescreen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Public Sans</vt:lpstr>
      <vt:lpstr>system-ui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93</cp:revision>
  <dcterms:created xsi:type="dcterms:W3CDTF">2026-08-22T05:23:22Z</dcterms:created>
  <dcterms:modified xsi:type="dcterms:W3CDTF">2026-08-24T06:36:47Z</dcterms:modified>
</cp:coreProperties>
</file>