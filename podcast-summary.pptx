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6" r:id="rId3"/>
    <p:sldId id="258" r:id="rId4"/>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98"/>
  </p:normalViewPr>
  <p:slideViewPr>
    <p:cSldViewPr snapToGrid="0">
      <p:cViewPr varScale="1">
        <p:scale>
          <a:sx n="111" d="100"/>
          <a:sy n="111" d="100"/>
        </p:scale>
        <p:origin x="53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8ACBD-4C3D-300D-1A62-F686A50B870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C3011ABD-8F36-D022-67D5-D6F39295BF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E57562AA-D062-2EBC-611A-C0B026AF096C}"/>
              </a:ext>
            </a:extLst>
          </p:cNvPr>
          <p:cNvSpPr>
            <a:spLocks noGrp="1"/>
          </p:cNvSpPr>
          <p:nvPr>
            <p:ph type="dt" sz="half" idx="10"/>
          </p:nvPr>
        </p:nvSpPr>
        <p:spPr/>
        <p:txBody>
          <a:bodyPr/>
          <a:lstStyle/>
          <a:p>
            <a:fld id="{771D129B-393F-774B-8511-084F80151141}" type="datetimeFigureOut">
              <a:rPr lang="en-CN" smtClean="0"/>
              <a:t>2026/9/10</a:t>
            </a:fld>
            <a:endParaRPr lang="en-CN"/>
          </a:p>
        </p:txBody>
      </p:sp>
      <p:sp>
        <p:nvSpPr>
          <p:cNvPr id="5" name="Footer Placeholder 4">
            <a:extLst>
              <a:ext uri="{FF2B5EF4-FFF2-40B4-BE49-F238E27FC236}">
                <a16:creationId xmlns:a16="http://schemas.microsoft.com/office/drawing/2014/main" id="{88A0E556-7F06-37C4-3004-B5B783AB0603}"/>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60FEABA0-1939-73EE-695B-BB0CD9BD8D67}"/>
              </a:ext>
            </a:extLst>
          </p:cNvPr>
          <p:cNvSpPr>
            <a:spLocks noGrp="1"/>
          </p:cNvSpPr>
          <p:nvPr>
            <p:ph type="sldNum" sz="quarter" idx="12"/>
          </p:nvPr>
        </p:nvSpPr>
        <p:spPr/>
        <p:txBody>
          <a:bodyPr/>
          <a:lstStyle/>
          <a:p>
            <a:fld id="{97CE8AE4-555C-0345-814B-11FC5F247DC4}" type="slidenum">
              <a:rPr lang="en-CN" smtClean="0"/>
              <a:t>‹#›</a:t>
            </a:fld>
            <a:endParaRPr lang="en-CN"/>
          </a:p>
        </p:txBody>
      </p:sp>
    </p:spTree>
    <p:extLst>
      <p:ext uri="{BB962C8B-B14F-4D97-AF65-F5344CB8AC3E}">
        <p14:creationId xmlns:p14="http://schemas.microsoft.com/office/powerpoint/2010/main" val="1736927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2784C-68CE-B8F9-6F58-FE43A877D48A}"/>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217B57D4-8054-D9C9-D5DA-382E470B28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6800BDEB-E2AA-5F86-9A5D-C3D302C914F0}"/>
              </a:ext>
            </a:extLst>
          </p:cNvPr>
          <p:cNvSpPr>
            <a:spLocks noGrp="1"/>
          </p:cNvSpPr>
          <p:nvPr>
            <p:ph type="dt" sz="half" idx="10"/>
          </p:nvPr>
        </p:nvSpPr>
        <p:spPr/>
        <p:txBody>
          <a:bodyPr/>
          <a:lstStyle/>
          <a:p>
            <a:fld id="{771D129B-393F-774B-8511-084F80151141}" type="datetimeFigureOut">
              <a:rPr lang="en-CN" smtClean="0"/>
              <a:t>2026/9/10</a:t>
            </a:fld>
            <a:endParaRPr lang="en-CN"/>
          </a:p>
        </p:txBody>
      </p:sp>
      <p:sp>
        <p:nvSpPr>
          <p:cNvPr id="5" name="Footer Placeholder 4">
            <a:extLst>
              <a:ext uri="{FF2B5EF4-FFF2-40B4-BE49-F238E27FC236}">
                <a16:creationId xmlns:a16="http://schemas.microsoft.com/office/drawing/2014/main" id="{64D5F01A-2FD9-4CD9-6287-A8021D34B95C}"/>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CCFE106F-2FA4-F1A6-5CBE-353F18F072D9}"/>
              </a:ext>
            </a:extLst>
          </p:cNvPr>
          <p:cNvSpPr>
            <a:spLocks noGrp="1"/>
          </p:cNvSpPr>
          <p:nvPr>
            <p:ph type="sldNum" sz="quarter" idx="12"/>
          </p:nvPr>
        </p:nvSpPr>
        <p:spPr/>
        <p:txBody>
          <a:bodyPr/>
          <a:lstStyle/>
          <a:p>
            <a:fld id="{97CE8AE4-555C-0345-814B-11FC5F247DC4}" type="slidenum">
              <a:rPr lang="en-CN" smtClean="0"/>
              <a:t>‹#›</a:t>
            </a:fld>
            <a:endParaRPr lang="en-CN"/>
          </a:p>
        </p:txBody>
      </p:sp>
    </p:spTree>
    <p:extLst>
      <p:ext uri="{BB962C8B-B14F-4D97-AF65-F5344CB8AC3E}">
        <p14:creationId xmlns:p14="http://schemas.microsoft.com/office/powerpoint/2010/main" val="2532875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F9952-05D0-8966-7EB7-8C283E818D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A3C843C5-A1D9-1C86-9EAA-AF19C9B509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2C125F-9C89-5062-1D1F-2773A51E6849}"/>
              </a:ext>
            </a:extLst>
          </p:cNvPr>
          <p:cNvSpPr>
            <a:spLocks noGrp="1"/>
          </p:cNvSpPr>
          <p:nvPr>
            <p:ph type="dt" sz="half" idx="10"/>
          </p:nvPr>
        </p:nvSpPr>
        <p:spPr/>
        <p:txBody>
          <a:bodyPr/>
          <a:lstStyle/>
          <a:p>
            <a:fld id="{771D129B-393F-774B-8511-084F80151141}" type="datetimeFigureOut">
              <a:rPr lang="en-CN" smtClean="0"/>
              <a:t>2026/9/10</a:t>
            </a:fld>
            <a:endParaRPr lang="en-CN"/>
          </a:p>
        </p:txBody>
      </p:sp>
      <p:sp>
        <p:nvSpPr>
          <p:cNvPr id="5" name="Footer Placeholder 4">
            <a:extLst>
              <a:ext uri="{FF2B5EF4-FFF2-40B4-BE49-F238E27FC236}">
                <a16:creationId xmlns:a16="http://schemas.microsoft.com/office/drawing/2014/main" id="{024E387E-28E4-70A6-68A2-0FDA70E8C1D3}"/>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C6C2F1E-50B4-7CD8-9E63-AE10087436FB}"/>
              </a:ext>
            </a:extLst>
          </p:cNvPr>
          <p:cNvSpPr>
            <a:spLocks noGrp="1"/>
          </p:cNvSpPr>
          <p:nvPr>
            <p:ph type="sldNum" sz="quarter" idx="12"/>
          </p:nvPr>
        </p:nvSpPr>
        <p:spPr/>
        <p:txBody>
          <a:bodyPr/>
          <a:lstStyle/>
          <a:p>
            <a:fld id="{97CE8AE4-555C-0345-814B-11FC5F247DC4}" type="slidenum">
              <a:rPr lang="en-CN" smtClean="0"/>
              <a:t>‹#›</a:t>
            </a:fld>
            <a:endParaRPr lang="en-CN"/>
          </a:p>
        </p:txBody>
      </p:sp>
    </p:spTree>
    <p:extLst>
      <p:ext uri="{BB962C8B-B14F-4D97-AF65-F5344CB8AC3E}">
        <p14:creationId xmlns:p14="http://schemas.microsoft.com/office/powerpoint/2010/main" val="398785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BCDB7-3FAB-A455-ED26-0C48D91ACF11}"/>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D417A0AC-C282-196F-5810-58CC77D14F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7F68FE84-791D-09D1-E901-5BDD6307C6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45AA6AB0-E3E5-08CA-5772-8D66CDAABD5B}"/>
              </a:ext>
            </a:extLst>
          </p:cNvPr>
          <p:cNvSpPr>
            <a:spLocks noGrp="1"/>
          </p:cNvSpPr>
          <p:nvPr>
            <p:ph type="dt" sz="half" idx="10"/>
          </p:nvPr>
        </p:nvSpPr>
        <p:spPr/>
        <p:txBody>
          <a:bodyPr/>
          <a:lstStyle/>
          <a:p>
            <a:fld id="{771D129B-393F-774B-8511-084F80151141}" type="datetimeFigureOut">
              <a:rPr lang="en-CN" smtClean="0"/>
              <a:t>2026/9/10</a:t>
            </a:fld>
            <a:endParaRPr lang="en-CN"/>
          </a:p>
        </p:txBody>
      </p:sp>
      <p:sp>
        <p:nvSpPr>
          <p:cNvPr id="6" name="Footer Placeholder 5">
            <a:extLst>
              <a:ext uri="{FF2B5EF4-FFF2-40B4-BE49-F238E27FC236}">
                <a16:creationId xmlns:a16="http://schemas.microsoft.com/office/drawing/2014/main" id="{E597BB21-049F-D908-952B-B6D84980AE99}"/>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2794A266-0A27-720F-C75C-8E2BE86EBDF9}"/>
              </a:ext>
            </a:extLst>
          </p:cNvPr>
          <p:cNvSpPr>
            <a:spLocks noGrp="1"/>
          </p:cNvSpPr>
          <p:nvPr>
            <p:ph type="sldNum" sz="quarter" idx="12"/>
          </p:nvPr>
        </p:nvSpPr>
        <p:spPr/>
        <p:txBody>
          <a:bodyPr/>
          <a:lstStyle/>
          <a:p>
            <a:fld id="{97CE8AE4-555C-0345-814B-11FC5F247DC4}" type="slidenum">
              <a:rPr lang="en-CN" smtClean="0"/>
              <a:t>‹#›</a:t>
            </a:fld>
            <a:endParaRPr lang="en-CN"/>
          </a:p>
        </p:txBody>
      </p:sp>
    </p:spTree>
    <p:extLst>
      <p:ext uri="{BB962C8B-B14F-4D97-AF65-F5344CB8AC3E}">
        <p14:creationId xmlns:p14="http://schemas.microsoft.com/office/powerpoint/2010/main" val="2763203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360A5-E1F8-3C84-9461-8B07C6A2E5E8}"/>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FAA21E5B-C483-07E3-5DF8-5EA6DB00AD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E0488B-D4C9-378E-00AE-B68645EBFD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4FC87CBF-D046-7975-A405-36475E6319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ADA4AF-BB27-080C-CDF1-0A461D2A3F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15186B99-5F77-B6D7-A034-DC1CB7063135}"/>
              </a:ext>
            </a:extLst>
          </p:cNvPr>
          <p:cNvSpPr>
            <a:spLocks noGrp="1"/>
          </p:cNvSpPr>
          <p:nvPr>
            <p:ph type="dt" sz="half" idx="10"/>
          </p:nvPr>
        </p:nvSpPr>
        <p:spPr/>
        <p:txBody>
          <a:bodyPr/>
          <a:lstStyle/>
          <a:p>
            <a:fld id="{771D129B-393F-774B-8511-084F80151141}" type="datetimeFigureOut">
              <a:rPr lang="en-CN" smtClean="0"/>
              <a:t>2026/9/10</a:t>
            </a:fld>
            <a:endParaRPr lang="en-CN"/>
          </a:p>
        </p:txBody>
      </p:sp>
      <p:sp>
        <p:nvSpPr>
          <p:cNvPr id="8" name="Footer Placeholder 7">
            <a:extLst>
              <a:ext uri="{FF2B5EF4-FFF2-40B4-BE49-F238E27FC236}">
                <a16:creationId xmlns:a16="http://schemas.microsoft.com/office/drawing/2014/main" id="{B6B5FC1E-A446-A5AA-4796-39C4CBE83C23}"/>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F77A5B79-7E6A-C069-5647-45F902C2A192}"/>
              </a:ext>
            </a:extLst>
          </p:cNvPr>
          <p:cNvSpPr>
            <a:spLocks noGrp="1"/>
          </p:cNvSpPr>
          <p:nvPr>
            <p:ph type="sldNum" sz="quarter" idx="12"/>
          </p:nvPr>
        </p:nvSpPr>
        <p:spPr/>
        <p:txBody>
          <a:bodyPr/>
          <a:lstStyle/>
          <a:p>
            <a:fld id="{97CE8AE4-555C-0345-814B-11FC5F247DC4}" type="slidenum">
              <a:rPr lang="en-CN" smtClean="0"/>
              <a:t>‹#›</a:t>
            </a:fld>
            <a:endParaRPr lang="en-CN"/>
          </a:p>
        </p:txBody>
      </p:sp>
    </p:spTree>
    <p:extLst>
      <p:ext uri="{BB962C8B-B14F-4D97-AF65-F5344CB8AC3E}">
        <p14:creationId xmlns:p14="http://schemas.microsoft.com/office/powerpoint/2010/main" val="3116729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64310-419F-B29A-0FEA-5075A8D20680}"/>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75814A19-017D-6C98-BB87-DA5B84D66361}"/>
              </a:ext>
            </a:extLst>
          </p:cNvPr>
          <p:cNvSpPr>
            <a:spLocks noGrp="1"/>
          </p:cNvSpPr>
          <p:nvPr>
            <p:ph type="dt" sz="half" idx="10"/>
          </p:nvPr>
        </p:nvSpPr>
        <p:spPr/>
        <p:txBody>
          <a:bodyPr/>
          <a:lstStyle/>
          <a:p>
            <a:fld id="{771D129B-393F-774B-8511-084F80151141}" type="datetimeFigureOut">
              <a:rPr lang="en-CN" smtClean="0"/>
              <a:t>2026/9/10</a:t>
            </a:fld>
            <a:endParaRPr lang="en-CN"/>
          </a:p>
        </p:txBody>
      </p:sp>
      <p:sp>
        <p:nvSpPr>
          <p:cNvPr id="4" name="Footer Placeholder 3">
            <a:extLst>
              <a:ext uri="{FF2B5EF4-FFF2-40B4-BE49-F238E27FC236}">
                <a16:creationId xmlns:a16="http://schemas.microsoft.com/office/drawing/2014/main" id="{01C310BE-9E48-B728-EA25-5B65D4E3FE8F}"/>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51D3108D-D879-857D-2A4C-C5D09C30FADA}"/>
              </a:ext>
            </a:extLst>
          </p:cNvPr>
          <p:cNvSpPr>
            <a:spLocks noGrp="1"/>
          </p:cNvSpPr>
          <p:nvPr>
            <p:ph type="sldNum" sz="quarter" idx="12"/>
          </p:nvPr>
        </p:nvSpPr>
        <p:spPr/>
        <p:txBody>
          <a:bodyPr/>
          <a:lstStyle/>
          <a:p>
            <a:fld id="{97CE8AE4-555C-0345-814B-11FC5F247DC4}" type="slidenum">
              <a:rPr lang="en-CN" smtClean="0"/>
              <a:t>‹#›</a:t>
            </a:fld>
            <a:endParaRPr lang="en-CN"/>
          </a:p>
        </p:txBody>
      </p:sp>
    </p:spTree>
    <p:extLst>
      <p:ext uri="{BB962C8B-B14F-4D97-AF65-F5344CB8AC3E}">
        <p14:creationId xmlns:p14="http://schemas.microsoft.com/office/powerpoint/2010/main" val="4248757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60D7E4-190B-9ADB-0035-547C211467AB}"/>
              </a:ext>
            </a:extLst>
          </p:cNvPr>
          <p:cNvSpPr>
            <a:spLocks noGrp="1"/>
          </p:cNvSpPr>
          <p:nvPr>
            <p:ph type="dt" sz="half" idx="10"/>
          </p:nvPr>
        </p:nvSpPr>
        <p:spPr/>
        <p:txBody>
          <a:bodyPr/>
          <a:lstStyle/>
          <a:p>
            <a:fld id="{771D129B-393F-774B-8511-084F80151141}" type="datetimeFigureOut">
              <a:rPr lang="en-CN" smtClean="0"/>
              <a:t>2026/9/10</a:t>
            </a:fld>
            <a:endParaRPr lang="en-CN"/>
          </a:p>
        </p:txBody>
      </p:sp>
      <p:sp>
        <p:nvSpPr>
          <p:cNvPr id="3" name="Footer Placeholder 2">
            <a:extLst>
              <a:ext uri="{FF2B5EF4-FFF2-40B4-BE49-F238E27FC236}">
                <a16:creationId xmlns:a16="http://schemas.microsoft.com/office/drawing/2014/main" id="{C206A68D-7025-5BD2-60A8-837ABB6C46FE}"/>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F28279D4-3C34-A418-003C-394C23A3C87C}"/>
              </a:ext>
            </a:extLst>
          </p:cNvPr>
          <p:cNvSpPr>
            <a:spLocks noGrp="1"/>
          </p:cNvSpPr>
          <p:nvPr>
            <p:ph type="sldNum" sz="quarter" idx="12"/>
          </p:nvPr>
        </p:nvSpPr>
        <p:spPr/>
        <p:txBody>
          <a:bodyPr/>
          <a:lstStyle/>
          <a:p>
            <a:fld id="{97CE8AE4-555C-0345-814B-11FC5F247DC4}" type="slidenum">
              <a:rPr lang="en-CN" smtClean="0"/>
              <a:t>‹#›</a:t>
            </a:fld>
            <a:endParaRPr lang="en-CN"/>
          </a:p>
        </p:txBody>
      </p:sp>
    </p:spTree>
    <p:extLst>
      <p:ext uri="{BB962C8B-B14F-4D97-AF65-F5344CB8AC3E}">
        <p14:creationId xmlns:p14="http://schemas.microsoft.com/office/powerpoint/2010/main" val="2244332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564D1-1345-1493-346F-412FF0EB12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FFDFAC38-65E1-61DE-E01B-DCD8E59B91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826341BD-EAB3-AC95-7778-63EE381415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AFC265-8387-635B-7798-44D87451AACA}"/>
              </a:ext>
            </a:extLst>
          </p:cNvPr>
          <p:cNvSpPr>
            <a:spLocks noGrp="1"/>
          </p:cNvSpPr>
          <p:nvPr>
            <p:ph type="dt" sz="half" idx="10"/>
          </p:nvPr>
        </p:nvSpPr>
        <p:spPr/>
        <p:txBody>
          <a:bodyPr/>
          <a:lstStyle/>
          <a:p>
            <a:fld id="{771D129B-393F-774B-8511-084F80151141}" type="datetimeFigureOut">
              <a:rPr lang="en-CN" smtClean="0"/>
              <a:t>2026/9/10</a:t>
            </a:fld>
            <a:endParaRPr lang="en-CN"/>
          </a:p>
        </p:txBody>
      </p:sp>
      <p:sp>
        <p:nvSpPr>
          <p:cNvPr id="6" name="Footer Placeholder 5">
            <a:extLst>
              <a:ext uri="{FF2B5EF4-FFF2-40B4-BE49-F238E27FC236}">
                <a16:creationId xmlns:a16="http://schemas.microsoft.com/office/drawing/2014/main" id="{3AC8C6B2-4A34-A5A8-C38A-0FE9C93AA314}"/>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E1CC6451-FD0A-77FF-F496-CC4E5DBDB906}"/>
              </a:ext>
            </a:extLst>
          </p:cNvPr>
          <p:cNvSpPr>
            <a:spLocks noGrp="1"/>
          </p:cNvSpPr>
          <p:nvPr>
            <p:ph type="sldNum" sz="quarter" idx="12"/>
          </p:nvPr>
        </p:nvSpPr>
        <p:spPr/>
        <p:txBody>
          <a:bodyPr/>
          <a:lstStyle/>
          <a:p>
            <a:fld id="{97CE8AE4-555C-0345-814B-11FC5F247DC4}" type="slidenum">
              <a:rPr lang="en-CN" smtClean="0"/>
              <a:t>‹#›</a:t>
            </a:fld>
            <a:endParaRPr lang="en-CN"/>
          </a:p>
        </p:txBody>
      </p:sp>
    </p:spTree>
    <p:extLst>
      <p:ext uri="{BB962C8B-B14F-4D97-AF65-F5344CB8AC3E}">
        <p14:creationId xmlns:p14="http://schemas.microsoft.com/office/powerpoint/2010/main" val="3511271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A1949-12D3-9AB4-56C6-417F9F16F6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0743C9B0-E045-D3C9-9FBE-A41959FB6E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835A82EC-2932-E06A-D0F0-574151CEFD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50FE35-0E06-19DE-0ED0-E3B07D23CAC1}"/>
              </a:ext>
            </a:extLst>
          </p:cNvPr>
          <p:cNvSpPr>
            <a:spLocks noGrp="1"/>
          </p:cNvSpPr>
          <p:nvPr>
            <p:ph type="dt" sz="half" idx="10"/>
          </p:nvPr>
        </p:nvSpPr>
        <p:spPr/>
        <p:txBody>
          <a:bodyPr/>
          <a:lstStyle/>
          <a:p>
            <a:fld id="{771D129B-393F-774B-8511-084F80151141}" type="datetimeFigureOut">
              <a:rPr lang="en-CN" smtClean="0"/>
              <a:t>2026/9/10</a:t>
            </a:fld>
            <a:endParaRPr lang="en-CN"/>
          </a:p>
        </p:txBody>
      </p:sp>
      <p:sp>
        <p:nvSpPr>
          <p:cNvPr id="6" name="Footer Placeholder 5">
            <a:extLst>
              <a:ext uri="{FF2B5EF4-FFF2-40B4-BE49-F238E27FC236}">
                <a16:creationId xmlns:a16="http://schemas.microsoft.com/office/drawing/2014/main" id="{885C2512-4987-2E92-A4D0-C7FC6BA35EB6}"/>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D3758F26-246F-049E-B9D6-36C89FB7E84E}"/>
              </a:ext>
            </a:extLst>
          </p:cNvPr>
          <p:cNvSpPr>
            <a:spLocks noGrp="1"/>
          </p:cNvSpPr>
          <p:nvPr>
            <p:ph type="sldNum" sz="quarter" idx="12"/>
          </p:nvPr>
        </p:nvSpPr>
        <p:spPr/>
        <p:txBody>
          <a:bodyPr/>
          <a:lstStyle/>
          <a:p>
            <a:fld id="{97CE8AE4-555C-0345-814B-11FC5F247DC4}" type="slidenum">
              <a:rPr lang="en-CN" smtClean="0"/>
              <a:t>‹#›</a:t>
            </a:fld>
            <a:endParaRPr lang="en-CN"/>
          </a:p>
        </p:txBody>
      </p:sp>
    </p:spTree>
    <p:extLst>
      <p:ext uri="{BB962C8B-B14F-4D97-AF65-F5344CB8AC3E}">
        <p14:creationId xmlns:p14="http://schemas.microsoft.com/office/powerpoint/2010/main" val="2885854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3A27A-6CB7-F840-1503-2F99D0EDDAE8}"/>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22C8C6CA-BF68-7CEA-B105-B4E69C26DF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AEB5DDD8-39E2-7B92-32CD-3EDE1AF1F366}"/>
              </a:ext>
            </a:extLst>
          </p:cNvPr>
          <p:cNvSpPr>
            <a:spLocks noGrp="1"/>
          </p:cNvSpPr>
          <p:nvPr>
            <p:ph type="dt" sz="half" idx="10"/>
          </p:nvPr>
        </p:nvSpPr>
        <p:spPr/>
        <p:txBody>
          <a:bodyPr/>
          <a:lstStyle/>
          <a:p>
            <a:fld id="{771D129B-393F-774B-8511-084F80151141}" type="datetimeFigureOut">
              <a:rPr lang="en-CN" smtClean="0"/>
              <a:t>2026/9/10</a:t>
            </a:fld>
            <a:endParaRPr lang="en-CN"/>
          </a:p>
        </p:txBody>
      </p:sp>
      <p:sp>
        <p:nvSpPr>
          <p:cNvPr id="5" name="Footer Placeholder 4">
            <a:extLst>
              <a:ext uri="{FF2B5EF4-FFF2-40B4-BE49-F238E27FC236}">
                <a16:creationId xmlns:a16="http://schemas.microsoft.com/office/drawing/2014/main" id="{97D16C61-0A7E-8938-7772-8B8F8968F73E}"/>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5C6811BC-16B3-BC76-3B7E-526583D5DC70}"/>
              </a:ext>
            </a:extLst>
          </p:cNvPr>
          <p:cNvSpPr>
            <a:spLocks noGrp="1"/>
          </p:cNvSpPr>
          <p:nvPr>
            <p:ph type="sldNum" sz="quarter" idx="12"/>
          </p:nvPr>
        </p:nvSpPr>
        <p:spPr/>
        <p:txBody>
          <a:bodyPr/>
          <a:lstStyle/>
          <a:p>
            <a:fld id="{97CE8AE4-555C-0345-814B-11FC5F247DC4}" type="slidenum">
              <a:rPr lang="en-CN" smtClean="0"/>
              <a:t>‹#›</a:t>
            </a:fld>
            <a:endParaRPr lang="en-CN"/>
          </a:p>
        </p:txBody>
      </p:sp>
    </p:spTree>
    <p:extLst>
      <p:ext uri="{BB962C8B-B14F-4D97-AF65-F5344CB8AC3E}">
        <p14:creationId xmlns:p14="http://schemas.microsoft.com/office/powerpoint/2010/main" val="810816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46C87C-E5DE-E1B2-CB9B-06918E84D2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1ED8CA24-E528-B944-00C3-C006B876FF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87893849-52A6-2201-F810-2BFF8FC0522C}"/>
              </a:ext>
            </a:extLst>
          </p:cNvPr>
          <p:cNvSpPr>
            <a:spLocks noGrp="1"/>
          </p:cNvSpPr>
          <p:nvPr>
            <p:ph type="dt" sz="half" idx="10"/>
          </p:nvPr>
        </p:nvSpPr>
        <p:spPr/>
        <p:txBody>
          <a:bodyPr/>
          <a:lstStyle/>
          <a:p>
            <a:fld id="{771D129B-393F-774B-8511-084F80151141}" type="datetimeFigureOut">
              <a:rPr lang="en-CN" smtClean="0"/>
              <a:t>2026/9/10</a:t>
            </a:fld>
            <a:endParaRPr lang="en-CN"/>
          </a:p>
        </p:txBody>
      </p:sp>
      <p:sp>
        <p:nvSpPr>
          <p:cNvPr id="5" name="Footer Placeholder 4">
            <a:extLst>
              <a:ext uri="{FF2B5EF4-FFF2-40B4-BE49-F238E27FC236}">
                <a16:creationId xmlns:a16="http://schemas.microsoft.com/office/drawing/2014/main" id="{76D7DB2E-47E8-23FF-DA76-D0739155D7A8}"/>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55D93A69-9A3F-DE1E-8707-38B0CABC29DA}"/>
              </a:ext>
            </a:extLst>
          </p:cNvPr>
          <p:cNvSpPr>
            <a:spLocks noGrp="1"/>
          </p:cNvSpPr>
          <p:nvPr>
            <p:ph type="sldNum" sz="quarter" idx="12"/>
          </p:nvPr>
        </p:nvSpPr>
        <p:spPr/>
        <p:txBody>
          <a:bodyPr/>
          <a:lstStyle/>
          <a:p>
            <a:fld id="{97CE8AE4-555C-0345-814B-11FC5F247DC4}" type="slidenum">
              <a:rPr lang="en-CN" smtClean="0"/>
              <a:t>‹#›</a:t>
            </a:fld>
            <a:endParaRPr lang="en-CN"/>
          </a:p>
        </p:txBody>
      </p:sp>
    </p:spTree>
    <p:extLst>
      <p:ext uri="{BB962C8B-B14F-4D97-AF65-F5344CB8AC3E}">
        <p14:creationId xmlns:p14="http://schemas.microsoft.com/office/powerpoint/2010/main" val="342160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D0EE8B-B766-C139-437E-8AAB63619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6F57EF6C-E6B7-D77A-8553-6FE524E9D8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059C33AC-74C3-A2ED-9B75-E5CE50C682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1D129B-393F-774B-8511-084F80151141}" type="datetimeFigureOut">
              <a:rPr lang="en-CN" smtClean="0"/>
              <a:t>2026/9/10</a:t>
            </a:fld>
            <a:endParaRPr lang="en-CN"/>
          </a:p>
        </p:txBody>
      </p:sp>
      <p:sp>
        <p:nvSpPr>
          <p:cNvPr id="5" name="Footer Placeholder 4">
            <a:extLst>
              <a:ext uri="{FF2B5EF4-FFF2-40B4-BE49-F238E27FC236}">
                <a16:creationId xmlns:a16="http://schemas.microsoft.com/office/drawing/2014/main" id="{BDCAF0CE-B3A9-E8C3-466D-32E98BD9AD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N"/>
          </a:p>
        </p:txBody>
      </p:sp>
      <p:sp>
        <p:nvSpPr>
          <p:cNvPr id="6" name="Slide Number Placeholder 5">
            <a:extLst>
              <a:ext uri="{FF2B5EF4-FFF2-40B4-BE49-F238E27FC236}">
                <a16:creationId xmlns:a16="http://schemas.microsoft.com/office/drawing/2014/main" id="{EAA6D185-4986-F61F-3442-546683E627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CE8AE4-555C-0345-814B-11FC5F247DC4}" type="slidenum">
              <a:rPr lang="en-CN" smtClean="0"/>
              <a:t>‹#›</a:t>
            </a:fld>
            <a:endParaRPr lang="en-CN"/>
          </a:p>
        </p:txBody>
      </p:sp>
    </p:spTree>
    <p:extLst>
      <p:ext uri="{BB962C8B-B14F-4D97-AF65-F5344CB8AC3E}">
        <p14:creationId xmlns:p14="http://schemas.microsoft.com/office/powerpoint/2010/main" val="3058720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6DBA4BC-3806-0866-B2FF-1D4FD4F3379C}"/>
              </a:ext>
            </a:extLst>
          </p:cNvPr>
          <p:cNvGraphicFramePr>
            <a:graphicFrameLocks noGrp="1"/>
          </p:cNvGraphicFramePr>
          <p:nvPr>
            <p:extLst>
              <p:ext uri="{D42A27DB-BD31-4B8C-83A1-F6EECF244321}">
                <p14:modId xmlns:p14="http://schemas.microsoft.com/office/powerpoint/2010/main" val="3793874149"/>
              </p:ext>
            </p:extLst>
          </p:nvPr>
        </p:nvGraphicFramePr>
        <p:xfrm>
          <a:off x="0" y="-40038"/>
          <a:ext cx="12083970" cy="6918960"/>
        </p:xfrm>
        <a:graphic>
          <a:graphicData uri="http://schemas.openxmlformats.org/drawingml/2006/table">
            <a:tbl>
              <a:tblPr firstRow="1" bandRow="1">
                <a:tableStyleId>{2D5ABB26-0587-4C30-8999-92F81FD0307C}</a:tableStyleId>
              </a:tblPr>
              <a:tblGrid>
                <a:gridCol w="1145894">
                  <a:extLst>
                    <a:ext uri="{9D8B030D-6E8A-4147-A177-3AD203B41FA5}">
                      <a16:colId xmlns:a16="http://schemas.microsoft.com/office/drawing/2014/main" val="58421041"/>
                    </a:ext>
                  </a:extLst>
                </a:gridCol>
                <a:gridCol w="10000526">
                  <a:extLst>
                    <a:ext uri="{9D8B030D-6E8A-4147-A177-3AD203B41FA5}">
                      <a16:colId xmlns:a16="http://schemas.microsoft.com/office/drawing/2014/main" val="3596707140"/>
                    </a:ext>
                  </a:extLst>
                </a:gridCol>
                <a:gridCol w="937550">
                  <a:extLst>
                    <a:ext uri="{9D8B030D-6E8A-4147-A177-3AD203B41FA5}">
                      <a16:colId xmlns:a16="http://schemas.microsoft.com/office/drawing/2014/main" val="3395717646"/>
                    </a:ext>
                  </a:extLst>
                </a:gridCol>
              </a:tblGrid>
              <a:tr h="306256">
                <a:tc>
                  <a:txBody>
                    <a:bodyPr/>
                    <a:lstStyle/>
                    <a:p>
                      <a:pPr marL="0" algn="l" defTabSz="914400" rtl="0" eaLnBrk="1" latinLnBrk="0" hangingPunct="1"/>
                      <a:r>
                        <a:rPr lang="en-CN" sz="1600" b="0" i="0" kern="1200" dirty="0">
                          <a:solidFill>
                            <a:schemeClr val="tx1"/>
                          </a:solidFill>
                          <a:effectLst/>
                          <a:latin typeface="+mn-ea"/>
                          <a:ea typeface="+mn-ea"/>
                          <a:cs typeface="+mn-cs"/>
                        </a:rPr>
                        <a:t>Name</a:t>
                      </a:r>
                    </a:p>
                  </a:txBody>
                  <a:tcPr/>
                </a:tc>
                <a:tc>
                  <a:txBody>
                    <a:bodyPr/>
                    <a:lstStyle/>
                    <a:p>
                      <a:pPr marL="0" algn="l" defTabSz="914400" rtl="0" eaLnBrk="1" latinLnBrk="0" hangingPunct="1"/>
                      <a:r>
                        <a:rPr lang="en-CN" sz="1600" b="0" i="0" kern="1200" dirty="0">
                          <a:solidFill>
                            <a:schemeClr val="tx1"/>
                          </a:solidFill>
                          <a:effectLst/>
                          <a:latin typeface="+mn-ea"/>
                          <a:ea typeface="+mn-ea"/>
                          <a:cs typeface="+mn-cs"/>
                        </a:rPr>
                        <a:t>Saying</a:t>
                      </a:r>
                    </a:p>
                  </a:txBody>
                  <a:tcPr/>
                </a:tc>
                <a:tc>
                  <a:txBody>
                    <a:bodyPr/>
                    <a:lstStyle/>
                    <a:p>
                      <a:r>
                        <a:rPr lang="en-CN" sz="1600" dirty="0">
                          <a:latin typeface="+mn-ea"/>
                          <a:ea typeface="+mn-ea"/>
                        </a:rPr>
                        <a:t>Time(h)</a:t>
                      </a:r>
                    </a:p>
                  </a:txBody>
                  <a:tcPr/>
                </a:tc>
                <a:extLst>
                  <a:ext uri="{0D108BD9-81ED-4DB2-BD59-A6C34878D82A}">
                    <a16:rowId xmlns:a16="http://schemas.microsoft.com/office/drawing/2014/main" val="159235623"/>
                  </a:ext>
                </a:extLst>
              </a:tr>
              <a:tr h="652981">
                <a:tc>
                  <a:txBody>
                    <a:bodyPr/>
                    <a:lstStyle/>
                    <a:p>
                      <a:pPr marL="0" algn="l" defTabSz="914400" rtl="0" eaLnBrk="1" latinLnBrk="0" hangingPunct="1"/>
                      <a:r>
                        <a:rPr lang="en-CN" sz="1600" b="0" i="0" kern="1200" dirty="0">
                          <a:solidFill>
                            <a:schemeClr val="tx1"/>
                          </a:solidFill>
                          <a:effectLst/>
                          <a:latin typeface="+mn-ea"/>
                          <a:ea typeface="+mn-ea"/>
                          <a:cs typeface="+mn-cs"/>
                        </a:rPr>
                        <a:t>谢赛宁</a:t>
                      </a:r>
                    </a:p>
                    <a:p>
                      <a:pPr marL="0" algn="l" defTabSz="914400" rtl="0" eaLnBrk="1" latinLnBrk="0" hangingPunct="1"/>
                      <a:r>
                        <a:rPr lang="en-CN" sz="1600" b="0" i="0" kern="1200" dirty="0">
                          <a:solidFill>
                            <a:schemeClr val="tx1"/>
                          </a:solidFill>
                          <a:effectLst/>
                          <a:latin typeface="+mn-ea"/>
                          <a:ea typeface="+mn-ea"/>
                          <a:cs typeface="+mn-cs"/>
                        </a:rPr>
                        <a:t>AMI lab</a:t>
                      </a:r>
                    </a:p>
                  </a:txBody>
                  <a:tcPr/>
                </a:tc>
                <a:tc>
                  <a:txBody>
                    <a:bodyPr/>
                    <a:lstStyle/>
                    <a:p>
                      <a:pPr marL="0" algn="l" defTabSz="914400" rtl="0" eaLnBrk="1" latinLnBrk="0" hangingPunct="1"/>
                      <a:r>
                        <a:rPr lang="en-US" sz="1800" b="0" i="0" kern="1200" dirty="0">
                          <a:solidFill>
                            <a:schemeClr val="tx1"/>
                          </a:solidFill>
                          <a:effectLst/>
                          <a:highlight>
                            <a:srgbClr val="FFFF00"/>
                          </a:highlight>
                          <a:latin typeface="+mn-lt"/>
                          <a:ea typeface="+mn-ea"/>
                          <a:cs typeface="+mn-cs"/>
                        </a:rPr>
                        <a:t>If everyone is thinking alike, then somebody isn't thinking</a:t>
                      </a:r>
                    </a:p>
                    <a:p>
                      <a:pPr marL="0" algn="l" defTabSz="914400" rtl="0" eaLnBrk="1" latinLnBrk="0" hangingPunct="1"/>
                      <a:r>
                        <a:rPr lang="zh-CN" altLang="en-US" sz="1600" b="0" i="0" kern="1200" dirty="0">
                          <a:solidFill>
                            <a:schemeClr val="tx1"/>
                          </a:solidFill>
                          <a:effectLst/>
                          <a:latin typeface="+mn-ea"/>
                          <a:ea typeface="+mn-ea"/>
                          <a:cs typeface="+mn-cs"/>
                        </a:rPr>
                        <a:t>解决视觉不是要解决视觉本身，而是要解决智能本身</a:t>
                      </a:r>
                      <a:endParaRPr lang="en-US" altLang="zh-CN" sz="1600" b="0" i="0" kern="1200" dirty="0">
                        <a:solidFill>
                          <a:schemeClr val="tx1"/>
                        </a:solidFill>
                        <a:effectLst/>
                        <a:latin typeface="+mn-ea"/>
                        <a:ea typeface="+mn-ea"/>
                        <a:cs typeface="+mn-cs"/>
                      </a:endParaRPr>
                    </a:p>
                    <a:p>
                      <a:pPr marL="0" algn="l" defTabSz="914400" rtl="0" eaLnBrk="1" latinLnBrk="0" hangingPunct="1"/>
                      <a:r>
                        <a:rPr lang="zh-CN" altLang="en-US" sz="1600" b="0" i="0" kern="1200" dirty="0">
                          <a:solidFill>
                            <a:schemeClr val="tx1"/>
                          </a:solidFill>
                          <a:effectLst/>
                          <a:latin typeface="+mn-ea"/>
                          <a:ea typeface="+mn-ea"/>
                          <a:cs typeface="+mn-cs"/>
                        </a:rPr>
                        <a:t>很多时候，我觉得探索的动力还是好奇心，就是‘我想知道为什么</a:t>
                      </a:r>
                      <a:endParaRPr lang="en-US" altLang="zh-CN" sz="1600" b="0" i="0" kern="1200" dirty="0">
                        <a:solidFill>
                          <a:schemeClr val="tx1"/>
                        </a:solidFill>
                        <a:effectLst/>
                        <a:latin typeface="+mn-ea"/>
                        <a:ea typeface="+mn-ea"/>
                        <a:cs typeface="+mn-cs"/>
                      </a:endParaRPr>
                    </a:p>
                    <a:p>
                      <a:pPr marL="0" algn="l" defTabSz="914400" rtl="0" eaLnBrk="1" latinLnBrk="0" hangingPunct="1"/>
                      <a:r>
                        <a:rPr lang="zh-CN" altLang="en-US" sz="1600" b="0" i="0" kern="1200" dirty="0">
                          <a:solidFill>
                            <a:schemeClr val="tx1"/>
                          </a:solidFill>
                          <a:effectLst/>
                          <a:latin typeface="+mn-ea"/>
                          <a:ea typeface="+mn-ea"/>
                          <a:cs typeface="+mn-cs"/>
                        </a:rPr>
                        <a:t>最好的</a:t>
                      </a:r>
                      <a:r>
                        <a:rPr lang="en-US" sz="1600" b="0" i="0" kern="1200" dirty="0">
                          <a:solidFill>
                            <a:schemeClr val="tx1"/>
                          </a:solidFill>
                          <a:effectLst/>
                          <a:latin typeface="+mn-ea"/>
                          <a:ea typeface="+mn-ea"/>
                          <a:cs typeface="+mn-cs"/>
                        </a:rPr>
                        <a:t>Paper</a:t>
                      </a:r>
                      <a:r>
                        <a:rPr lang="zh-CN" altLang="en-US" sz="1600" b="0" i="0" kern="1200" dirty="0">
                          <a:solidFill>
                            <a:schemeClr val="tx1"/>
                          </a:solidFill>
                          <a:effectLst/>
                          <a:latin typeface="+mn-ea"/>
                          <a:ea typeface="+mn-ea"/>
                          <a:cs typeface="+mn-cs"/>
                        </a:rPr>
                        <a:t>不是写技术细节，而是讲一个</a:t>
                      </a:r>
                      <a:r>
                        <a:rPr lang="en-US" sz="1600" b="0" i="0" kern="1200" dirty="0">
                          <a:solidFill>
                            <a:schemeClr val="tx1"/>
                          </a:solidFill>
                          <a:effectLst/>
                          <a:latin typeface="+mn-ea"/>
                          <a:ea typeface="+mn-ea"/>
                          <a:cs typeface="+mn-cs"/>
                        </a:rPr>
                        <a:t>decision-making story——</a:t>
                      </a:r>
                      <a:r>
                        <a:rPr lang="zh-CN" altLang="en-US" sz="1600" b="0" i="0" kern="1200" dirty="0">
                          <a:solidFill>
                            <a:schemeClr val="tx1"/>
                          </a:solidFill>
                          <a:effectLst/>
                          <a:latin typeface="+mn-ea"/>
                          <a:ea typeface="+mn-ea"/>
                          <a:cs typeface="+mn-cs"/>
                        </a:rPr>
                        <a:t>你怎么到了这里</a:t>
                      </a:r>
                      <a:endParaRPr lang="en-US" altLang="zh-CN" sz="1600" b="0" i="0" kern="1200" dirty="0">
                        <a:solidFill>
                          <a:schemeClr val="tx1"/>
                        </a:solidFill>
                        <a:effectLst/>
                        <a:latin typeface="+mn-ea"/>
                        <a:ea typeface="+mn-ea"/>
                        <a:cs typeface="+mn-cs"/>
                      </a:endParaRPr>
                    </a:p>
                    <a:p>
                      <a:pPr marL="0" algn="l" defTabSz="914400" rtl="0" eaLnBrk="1" latinLnBrk="0" hangingPunct="1"/>
                      <a:r>
                        <a:rPr lang="zh-CN" altLang="en-US" sz="1600" b="0" i="0" kern="1200" dirty="0">
                          <a:solidFill>
                            <a:schemeClr val="tx1"/>
                          </a:solidFill>
                          <a:effectLst/>
                          <a:latin typeface="+mn-ea"/>
                          <a:ea typeface="+mn-ea"/>
                          <a:cs typeface="+mn-cs"/>
                        </a:rPr>
                        <a:t>我越活越相信命运，但命运推你到哪里，选择还在你手中</a:t>
                      </a:r>
                      <a:endParaRPr lang="en-US" altLang="zh-CN" sz="1600" b="0" i="0" kern="1200" dirty="0">
                        <a:solidFill>
                          <a:schemeClr val="tx1"/>
                        </a:solidFill>
                        <a:effectLst/>
                        <a:latin typeface="+mn-ea"/>
                        <a:ea typeface="+mn-ea"/>
                        <a:cs typeface="+mn-cs"/>
                      </a:endParaRPr>
                    </a:p>
                    <a:p>
                      <a:pPr marL="0" algn="l" defTabSz="914400" rtl="0" eaLnBrk="1" latinLnBrk="0" hangingPunct="1"/>
                      <a:r>
                        <a:rPr lang="zh-CN" altLang="en-US" sz="1600" b="0" i="0" kern="1200" dirty="0">
                          <a:solidFill>
                            <a:schemeClr val="tx1"/>
                          </a:solidFill>
                          <a:effectLst/>
                          <a:latin typeface="+mn-ea"/>
                          <a:ea typeface="+mn-ea"/>
                          <a:cs typeface="+mn-cs"/>
                        </a:rPr>
                        <a:t>因为相信而看见，因为看见而相信</a:t>
                      </a:r>
                      <a:endParaRPr lang="en-CN" sz="1600" b="0" i="0" kern="1200" dirty="0">
                        <a:solidFill>
                          <a:schemeClr val="tx1"/>
                        </a:solidFill>
                        <a:effectLst/>
                        <a:latin typeface="+mn-ea"/>
                        <a:ea typeface="+mn-ea"/>
                        <a:cs typeface="+mn-cs"/>
                      </a:endParaRPr>
                    </a:p>
                    <a:p>
                      <a:pPr marL="0" algn="l" defTabSz="914400" rtl="0" eaLnBrk="1" latinLnBrk="0" hangingPunct="1"/>
                      <a:r>
                        <a:rPr lang="en-CN" sz="1600" b="0" i="0" kern="1200" dirty="0">
                          <a:solidFill>
                            <a:schemeClr val="tx1"/>
                          </a:solidFill>
                          <a:effectLst/>
                          <a:highlight>
                            <a:srgbClr val="00FFFF"/>
                          </a:highlight>
                          <a:latin typeface="+mn-ea"/>
                          <a:ea typeface="+mn-ea"/>
                          <a:cs typeface="+mn-cs"/>
                        </a:rPr>
                        <a:t>凡所有相</a:t>
                      </a:r>
                      <a:r>
                        <a:rPr lang="zh-CN" altLang="en-US" sz="1600" b="0" i="0" kern="1200" dirty="0">
                          <a:solidFill>
                            <a:schemeClr val="tx1"/>
                          </a:solidFill>
                          <a:effectLst/>
                          <a:highlight>
                            <a:srgbClr val="00FFFF"/>
                          </a:highlight>
                          <a:latin typeface="+mn-ea"/>
                          <a:ea typeface="+mn-ea"/>
                          <a:cs typeface="+mn-cs"/>
                        </a:rPr>
                        <a:t>，皆是虚妄，见相非相， 直指本源 。在这个世界上，“只有人与人之间真诚的交流是重要的，也许其他都不重要”</a:t>
                      </a:r>
                      <a:r>
                        <a:rPr lang="en-US" altLang="zh-CN" sz="1600" b="0" i="0" kern="1200" dirty="0">
                          <a:solidFill>
                            <a:schemeClr val="tx1"/>
                          </a:solidFill>
                          <a:effectLst/>
                          <a:highlight>
                            <a:srgbClr val="00FFFF"/>
                          </a:highlight>
                          <a:latin typeface="+mn-ea"/>
                          <a:ea typeface="+mn-ea"/>
                          <a:cs typeface="+mn-cs"/>
                        </a:rPr>
                        <a:t>. </a:t>
                      </a:r>
                      <a:r>
                        <a:rPr lang="zh-CN" altLang="en-US" sz="1600" b="0" i="0" kern="1200" dirty="0">
                          <a:solidFill>
                            <a:schemeClr val="tx1"/>
                          </a:solidFill>
                          <a:effectLst/>
                          <a:latin typeface="+mn-ea"/>
                          <a:ea typeface="+mn-ea"/>
                          <a:cs typeface="+mn-cs"/>
                        </a:rPr>
                        <a:t>语言本身没有意义，</a:t>
                      </a:r>
                      <a:r>
                        <a:rPr lang="en-US" altLang="zh-CN" sz="1600" b="0" i="0" kern="1200" dirty="0">
                          <a:solidFill>
                            <a:schemeClr val="tx1"/>
                          </a:solidFill>
                          <a:effectLst/>
                          <a:latin typeface="+mn-ea"/>
                          <a:ea typeface="+mn-ea"/>
                          <a:cs typeface="+mn-cs"/>
                        </a:rPr>
                        <a:t>symbol </a:t>
                      </a:r>
                      <a:r>
                        <a:rPr lang="zh-CN" altLang="en-US" sz="1600" b="0" i="0" kern="1200" dirty="0">
                          <a:solidFill>
                            <a:schemeClr val="tx1"/>
                          </a:solidFill>
                          <a:effectLst/>
                          <a:latin typeface="+mn-ea"/>
                          <a:ea typeface="+mn-ea"/>
                          <a:cs typeface="+mn-cs"/>
                        </a:rPr>
                        <a:t>本身没有意义，意义是和真实世界发生的关系</a:t>
                      </a:r>
                      <a:endParaRPr lang="en-CN" sz="1600" b="0" i="0" kern="1200" dirty="0">
                        <a:solidFill>
                          <a:schemeClr val="tx1"/>
                        </a:solidFill>
                        <a:effectLst/>
                        <a:highlight>
                          <a:srgbClr val="00FFFF"/>
                        </a:highlight>
                        <a:latin typeface="+mn-ea"/>
                        <a:ea typeface="+mn-ea"/>
                        <a:cs typeface="+mn-cs"/>
                      </a:endParaRPr>
                    </a:p>
                  </a:txBody>
                  <a:tcPr/>
                </a:tc>
                <a:tc>
                  <a:txBody>
                    <a:bodyPr/>
                    <a:lstStyle/>
                    <a:p>
                      <a:r>
                        <a:rPr lang="en-CN" sz="1600" dirty="0">
                          <a:latin typeface="+mn-ea"/>
                          <a:ea typeface="+mn-ea"/>
                        </a:rPr>
                        <a:t>6:44 </a:t>
                      </a:r>
                    </a:p>
                  </a:txBody>
                  <a:tcPr/>
                </a:tc>
                <a:extLst>
                  <a:ext uri="{0D108BD9-81ED-4DB2-BD59-A6C34878D82A}">
                    <a16:rowId xmlns:a16="http://schemas.microsoft.com/office/drawing/2014/main" val="928512990"/>
                  </a:ext>
                </a:extLst>
              </a:tr>
              <a:tr h="389568">
                <a:tc>
                  <a:txBody>
                    <a:bodyPr/>
                    <a:lstStyle/>
                    <a:p>
                      <a:pPr marL="0" algn="l" defTabSz="914400" rtl="0" eaLnBrk="1" latinLnBrk="0" hangingPunct="1"/>
                      <a:r>
                        <a:rPr lang="en-CN" sz="1600" b="0" i="0" kern="1200" dirty="0">
                          <a:solidFill>
                            <a:schemeClr val="tx1"/>
                          </a:solidFill>
                          <a:effectLst/>
                          <a:latin typeface="+mn-ea"/>
                          <a:ea typeface="+mn-ea"/>
                          <a:cs typeface="+mn-cs"/>
                        </a:rPr>
                        <a:t>洪乐潼</a:t>
                      </a:r>
                    </a:p>
                    <a:p>
                      <a:pPr marL="0" algn="l" defTabSz="914400" rtl="0" eaLnBrk="1" latinLnBrk="0" hangingPunct="1"/>
                      <a:r>
                        <a:rPr lang="en-CN" sz="1600" b="0" i="0" kern="1200" dirty="0">
                          <a:solidFill>
                            <a:schemeClr val="tx1"/>
                          </a:solidFill>
                          <a:effectLst/>
                          <a:latin typeface="+mn-ea"/>
                          <a:ea typeface="+mn-ea"/>
                          <a:cs typeface="+mn-cs"/>
                        </a:rPr>
                        <a:t>Axiom</a:t>
                      </a:r>
                    </a:p>
                  </a:txBody>
                  <a:tcPr/>
                </a:tc>
                <a:tc>
                  <a:txBody>
                    <a:bodyPr/>
                    <a:lstStyle/>
                    <a:p>
                      <a:pPr marL="0" algn="l" defTabSz="914400" rtl="0" eaLnBrk="1" latinLnBrk="0" hangingPunct="1"/>
                      <a:r>
                        <a:rPr lang="en-CN" sz="1600" b="0" i="0" kern="1200" dirty="0">
                          <a:solidFill>
                            <a:schemeClr val="tx1"/>
                          </a:solidFill>
                          <a:effectLst/>
                          <a:highlight>
                            <a:srgbClr val="FFFF00"/>
                          </a:highlight>
                          <a:latin typeface="+mn-ea"/>
                          <a:ea typeface="+mn-ea"/>
                          <a:cs typeface="+mn-cs"/>
                        </a:rPr>
                        <a:t>好的领导力不是在前面指手画脚的</a:t>
                      </a:r>
                      <a:r>
                        <a:rPr lang="zh-CN" altLang="en-US" sz="1600" b="0" i="0" kern="1200" dirty="0">
                          <a:solidFill>
                            <a:schemeClr val="tx1"/>
                          </a:solidFill>
                          <a:effectLst/>
                          <a:highlight>
                            <a:srgbClr val="FFFF00"/>
                          </a:highlight>
                          <a:latin typeface="+mn-ea"/>
                          <a:ea typeface="+mn-ea"/>
                          <a:cs typeface="+mn-cs"/>
                        </a:rPr>
                        <a:t>，而是在后面递水的</a:t>
                      </a:r>
                      <a:endParaRPr lang="en-US" altLang="zh-CN" sz="1600" b="0" i="0" kern="1200" dirty="0">
                        <a:solidFill>
                          <a:schemeClr val="tx1"/>
                        </a:solidFill>
                        <a:effectLst/>
                        <a:highlight>
                          <a:srgbClr val="FFFF00"/>
                        </a:highlight>
                        <a:latin typeface="+mn-ea"/>
                        <a:ea typeface="+mn-ea"/>
                        <a:cs typeface="+mn-cs"/>
                      </a:endParaRPr>
                    </a:p>
                    <a:p>
                      <a:pPr marL="0" algn="l" defTabSz="914400" rtl="0" eaLnBrk="1" latinLnBrk="0" hangingPunct="1"/>
                      <a:r>
                        <a:rPr lang="zh-CN" altLang="en-US" sz="1600" b="0" i="0" kern="1200" dirty="0">
                          <a:solidFill>
                            <a:schemeClr val="tx1"/>
                          </a:solidFill>
                          <a:effectLst/>
                          <a:latin typeface="+mn-ea"/>
                          <a:ea typeface="+mn-ea"/>
                          <a:cs typeface="+mn-cs"/>
                        </a:rPr>
                        <a:t>世界不只是零和游戏，也是正和游戏</a:t>
                      </a:r>
                      <a:endParaRPr lang="en-US" altLang="zh-CN" sz="1600" b="0" i="0" kern="1200" dirty="0">
                        <a:solidFill>
                          <a:schemeClr val="tx1"/>
                        </a:solidFill>
                        <a:effectLst/>
                        <a:latin typeface="+mn-ea"/>
                        <a:ea typeface="+mn-ea"/>
                        <a:cs typeface="+mn-cs"/>
                      </a:endParaRPr>
                    </a:p>
                    <a:p>
                      <a:pPr marL="0" algn="l" defTabSz="914400" rtl="0" eaLnBrk="1" latinLnBrk="0" hangingPunct="1"/>
                      <a:r>
                        <a:rPr lang="en-US" sz="1600" b="0" i="0" kern="1200" dirty="0">
                          <a:solidFill>
                            <a:schemeClr val="tx1"/>
                          </a:solidFill>
                          <a:effectLst/>
                          <a:latin typeface="+mn-ea"/>
                          <a:ea typeface="+mn-ea"/>
                          <a:cs typeface="+mn-cs"/>
                        </a:rPr>
                        <a:t>AI</a:t>
                      </a:r>
                      <a:r>
                        <a:rPr lang="zh-CN" altLang="en-US" sz="1600" b="0" i="0" kern="1200" dirty="0">
                          <a:solidFill>
                            <a:schemeClr val="tx1"/>
                          </a:solidFill>
                          <a:effectLst/>
                          <a:latin typeface="+mn-ea"/>
                          <a:ea typeface="+mn-ea"/>
                          <a:cs typeface="+mn-cs"/>
                        </a:rPr>
                        <a:t>最擅长的是</a:t>
                      </a:r>
                      <a:r>
                        <a:rPr lang="en-US" sz="1600" b="0" i="0" kern="1200" dirty="0">
                          <a:solidFill>
                            <a:schemeClr val="tx1"/>
                          </a:solidFill>
                          <a:effectLst/>
                          <a:latin typeface="+mn-ea"/>
                          <a:ea typeface="+mn-ea"/>
                          <a:cs typeface="+mn-cs"/>
                        </a:rPr>
                        <a:t>bounded attention——</a:t>
                      </a:r>
                      <a:r>
                        <a:rPr lang="zh-CN" altLang="en-US" sz="1600" b="0" i="0" kern="1200" dirty="0">
                          <a:solidFill>
                            <a:schemeClr val="tx1"/>
                          </a:solidFill>
                          <a:effectLst/>
                          <a:latin typeface="+mn-ea"/>
                          <a:ea typeface="+mn-ea"/>
                          <a:cs typeface="+mn-cs"/>
                        </a:rPr>
                        <a:t>在给定框架内枚举、分类、验证。但猜想、定义新概念、识别“什么问题值得解决”</a:t>
                      </a:r>
                      <a:r>
                        <a:rPr lang="en-US" altLang="zh-CN" sz="1600" b="0" i="0" kern="1200" dirty="0">
                          <a:solidFill>
                            <a:schemeClr val="tx1"/>
                          </a:solidFill>
                          <a:effectLst/>
                          <a:latin typeface="+mn-ea"/>
                          <a:ea typeface="+mn-ea"/>
                          <a:cs typeface="+mn-cs"/>
                        </a:rPr>
                        <a:t>——</a:t>
                      </a:r>
                      <a:r>
                        <a:rPr lang="zh-CN" altLang="en-US" sz="1600" b="0" i="0" kern="1200" dirty="0">
                          <a:solidFill>
                            <a:schemeClr val="tx1"/>
                          </a:solidFill>
                          <a:effectLst/>
                          <a:latin typeface="+mn-ea"/>
                          <a:ea typeface="+mn-ea"/>
                          <a:cs typeface="+mn-cs"/>
                        </a:rPr>
                        <a:t>这些需要</a:t>
                      </a:r>
                      <a:r>
                        <a:rPr lang="en-US" sz="1600" b="0" i="0" kern="1200" dirty="0">
                          <a:solidFill>
                            <a:schemeClr val="tx1"/>
                          </a:solidFill>
                          <a:effectLst/>
                          <a:latin typeface="+mn-ea"/>
                          <a:ea typeface="+mn-ea"/>
                          <a:cs typeface="+mn-cs"/>
                        </a:rPr>
                        <a:t>free attention</a:t>
                      </a:r>
                      <a:r>
                        <a:rPr lang="zh-CN" altLang="en-US" sz="1600" b="0" i="0" kern="1200" dirty="0">
                          <a:solidFill>
                            <a:schemeClr val="tx1"/>
                          </a:solidFill>
                          <a:effectLst/>
                          <a:latin typeface="+mn-ea"/>
                          <a:ea typeface="+mn-ea"/>
                          <a:cs typeface="+mn-cs"/>
                        </a:rPr>
                        <a:t>的能力，目前仍是人类的领地</a:t>
                      </a:r>
                      <a:endParaRPr lang="en-US" altLang="zh-CN" sz="1600" b="0" i="0" kern="1200" dirty="0">
                        <a:solidFill>
                          <a:schemeClr val="tx1"/>
                        </a:solidFill>
                        <a:effectLst/>
                        <a:latin typeface="+mn-ea"/>
                        <a:ea typeface="+mn-ea"/>
                        <a:cs typeface="+mn-cs"/>
                      </a:endParaRPr>
                    </a:p>
                    <a:p>
                      <a:pPr marL="0" algn="l" defTabSz="914400" rtl="0" eaLnBrk="1" latinLnBrk="0" hangingPunct="1"/>
                      <a:r>
                        <a:rPr lang="zh-CN" altLang="en-US" sz="1600" b="0" i="0" kern="1200" dirty="0">
                          <a:solidFill>
                            <a:schemeClr val="tx1"/>
                          </a:solidFill>
                          <a:effectLst/>
                          <a:highlight>
                            <a:srgbClr val="00FFFF"/>
                          </a:highlight>
                          <a:latin typeface="+mn-ea"/>
                          <a:ea typeface="+mn-ea"/>
                          <a:cs typeface="+mn-cs"/>
                        </a:rPr>
                        <a:t>对苦难上瘾</a:t>
                      </a:r>
                      <a:endParaRPr lang="en-CN" sz="1600" b="0" i="0" kern="1200" dirty="0">
                        <a:solidFill>
                          <a:schemeClr val="tx1"/>
                        </a:solidFill>
                        <a:effectLst/>
                        <a:highlight>
                          <a:srgbClr val="00FFFF"/>
                        </a:highlight>
                        <a:latin typeface="+mn-ea"/>
                        <a:ea typeface="+mn-ea"/>
                        <a:cs typeface="+mn-cs"/>
                      </a:endParaRPr>
                    </a:p>
                  </a:txBody>
                  <a:tcPr/>
                </a:tc>
                <a:tc>
                  <a:txBody>
                    <a:bodyPr/>
                    <a:lstStyle/>
                    <a:p>
                      <a:r>
                        <a:rPr lang="en-US" altLang="zh-CN" sz="1600" dirty="0">
                          <a:latin typeface="+mn-ea"/>
                          <a:ea typeface="+mn-ea"/>
                        </a:rPr>
                        <a:t>4.23</a:t>
                      </a:r>
                      <a:endParaRPr lang="en-CN" sz="1600" dirty="0">
                        <a:latin typeface="+mn-ea"/>
                        <a:ea typeface="+mn-ea"/>
                      </a:endParaRPr>
                    </a:p>
                  </a:txBody>
                  <a:tcPr/>
                </a:tc>
                <a:extLst>
                  <a:ext uri="{0D108BD9-81ED-4DB2-BD59-A6C34878D82A}">
                    <a16:rowId xmlns:a16="http://schemas.microsoft.com/office/drawing/2014/main" val="2124854330"/>
                  </a:ext>
                </a:extLst>
              </a:tr>
              <a:tr h="763675">
                <a:tc>
                  <a:txBody>
                    <a:bodyPr/>
                    <a:lstStyle/>
                    <a:p>
                      <a:pPr marL="0" algn="l" defTabSz="914400" rtl="0" eaLnBrk="1" latinLnBrk="0" hangingPunct="1"/>
                      <a:r>
                        <a:rPr lang="en-CN" sz="1600" b="0" i="0" kern="1200" dirty="0">
                          <a:solidFill>
                            <a:schemeClr val="tx1"/>
                          </a:solidFill>
                          <a:effectLst/>
                          <a:latin typeface="+mn-ea"/>
                          <a:ea typeface="+mn-ea"/>
                          <a:cs typeface="+mn-cs"/>
                        </a:rPr>
                        <a:t>姚顺宇</a:t>
                      </a:r>
                    </a:p>
                  </a:txBody>
                  <a:tcPr/>
                </a:tc>
                <a:tc>
                  <a:txBody>
                    <a:bodyPr/>
                    <a:lstStyle/>
                    <a:p>
                      <a:pPr marL="0" algn="l" defTabSz="914400" rtl="0" eaLnBrk="1" latinLnBrk="0" hangingPunct="1"/>
                      <a:r>
                        <a:rPr lang="en-CN" sz="1600" b="0" i="0" kern="1200" dirty="0">
                          <a:solidFill>
                            <a:schemeClr val="tx1"/>
                          </a:solidFill>
                          <a:effectLst/>
                          <a:latin typeface="+mn-ea"/>
                          <a:ea typeface="+mn-ea"/>
                          <a:cs typeface="+mn-cs"/>
                        </a:rPr>
                        <a:t>说鬼话</a:t>
                      </a:r>
                      <a:r>
                        <a:rPr lang="zh-CN" altLang="en-US" sz="1600" b="0" i="0" kern="1200" dirty="0">
                          <a:solidFill>
                            <a:schemeClr val="tx1"/>
                          </a:solidFill>
                          <a:effectLst/>
                          <a:latin typeface="+mn-ea"/>
                          <a:ea typeface="+mn-ea"/>
                          <a:cs typeface="+mn-cs"/>
                        </a:rPr>
                        <a:t> </a:t>
                      </a:r>
                      <a:r>
                        <a:rPr lang="en-US" altLang="zh-CN" sz="1600" b="0" i="0" kern="1200" dirty="0">
                          <a:solidFill>
                            <a:schemeClr val="tx1"/>
                          </a:solidFill>
                          <a:effectLst/>
                          <a:latin typeface="+mn-ea"/>
                          <a:ea typeface="+mn-ea"/>
                          <a:cs typeface="+mn-cs"/>
                        </a:rPr>
                        <a:t>.   </a:t>
                      </a:r>
                      <a:r>
                        <a:rPr lang="zh-CN" altLang="en-US" sz="1600" b="0" i="0" kern="1200" dirty="0">
                          <a:solidFill>
                            <a:schemeClr val="tx1"/>
                          </a:solidFill>
                          <a:effectLst/>
                          <a:latin typeface="+mn-ea"/>
                          <a:ea typeface="+mn-ea"/>
                          <a:cs typeface="+mn-cs"/>
                        </a:rPr>
                        <a:t>人生苦短，别把时间浪费在伺候老登身上</a:t>
                      </a:r>
                      <a:endParaRPr lang="en-US" altLang="zh-CN" sz="1600" b="0" i="0" kern="1200" dirty="0">
                        <a:solidFill>
                          <a:schemeClr val="tx1"/>
                        </a:solidFill>
                        <a:effectLst/>
                        <a:latin typeface="+mn-ea"/>
                        <a:ea typeface="+mn-ea"/>
                        <a:cs typeface="+mn-cs"/>
                      </a:endParaRPr>
                    </a:p>
                    <a:p>
                      <a:pPr marL="0" algn="l" defTabSz="914400" rtl="0" eaLnBrk="1" latinLnBrk="0" hangingPunct="1"/>
                      <a:r>
                        <a:rPr lang="en-US" sz="1600" b="0" i="0" kern="1200" dirty="0">
                          <a:solidFill>
                            <a:schemeClr val="tx1"/>
                          </a:solidFill>
                          <a:effectLst/>
                          <a:latin typeface="+mn-ea"/>
                          <a:ea typeface="+mn-ea"/>
                          <a:cs typeface="+mn-cs"/>
                        </a:rPr>
                        <a:t> AI</a:t>
                      </a:r>
                      <a:r>
                        <a:rPr lang="zh-CN" altLang="en-US" sz="1600" b="0" i="0" kern="1200" dirty="0">
                          <a:solidFill>
                            <a:schemeClr val="tx1"/>
                          </a:solidFill>
                          <a:effectLst/>
                          <a:latin typeface="+mn-ea"/>
                          <a:ea typeface="+mn-ea"/>
                          <a:cs typeface="+mn-cs"/>
                        </a:rPr>
                        <a:t>是一个很中心化的技术，它会让少部分人变得更强，但会</a:t>
                      </a:r>
                      <a:r>
                        <a:rPr lang="zh-CN" altLang="en-US" sz="1600" b="0" i="0" kern="1200" dirty="0">
                          <a:solidFill>
                            <a:schemeClr val="tx1"/>
                          </a:solidFill>
                          <a:effectLst/>
                          <a:highlight>
                            <a:srgbClr val="FFFF00"/>
                          </a:highlight>
                          <a:latin typeface="+mn-ea"/>
                          <a:ea typeface="+mn-ea"/>
                          <a:cs typeface="+mn-cs"/>
                        </a:rPr>
                        <a:t>让大部分人失去他们的独特价值</a:t>
                      </a:r>
                      <a:endParaRPr lang="en-US" altLang="zh-CN" sz="1600" b="0" i="0" kern="1200" dirty="0">
                        <a:solidFill>
                          <a:schemeClr val="tx1"/>
                        </a:solidFill>
                        <a:effectLst/>
                        <a:highlight>
                          <a:srgbClr val="FFFF00"/>
                        </a:highlight>
                        <a:latin typeface="+mn-ea"/>
                        <a:ea typeface="+mn-ea"/>
                        <a:cs typeface="+mn-cs"/>
                      </a:endParaRPr>
                    </a:p>
                    <a:p>
                      <a:pPr marL="0" algn="l" defTabSz="914400" rtl="0" eaLnBrk="1" latinLnBrk="0" hangingPunct="1"/>
                      <a:r>
                        <a:rPr lang="zh-CN" altLang="en-US" sz="1600" b="0" i="0" kern="1200" dirty="0">
                          <a:solidFill>
                            <a:schemeClr val="tx1"/>
                          </a:solidFill>
                          <a:effectLst/>
                          <a:latin typeface="+mn-ea"/>
                          <a:ea typeface="+mn-ea"/>
                          <a:cs typeface="+mn-cs"/>
                        </a:rPr>
                        <a:t>你其实不用太担心因为自己的观点而惹到什么人，只要你的观点是自洽的，就是你有一套自己观点的理论</a:t>
                      </a:r>
                      <a:r>
                        <a:rPr lang="en-US" altLang="zh-CN" sz="1600" b="0" i="0" kern="1200" dirty="0">
                          <a:solidFill>
                            <a:schemeClr val="tx1"/>
                          </a:solidFill>
                          <a:effectLst/>
                          <a:latin typeface="+mn-ea"/>
                          <a:ea typeface="+mn-ea"/>
                          <a:cs typeface="+mn-cs"/>
                        </a:rPr>
                        <a:t>——</a:t>
                      </a:r>
                      <a:r>
                        <a:rPr lang="zh-CN" altLang="en-US" sz="1600" b="0" i="0" kern="1200" dirty="0">
                          <a:solidFill>
                            <a:schemeClr val="tx1"/>
                          </a:solidFill>
                          <a:effectLst/>
                          <a:latin typeface="+mn-ea"/>
                          <a:ea typeface="+mn-ea"/>
                          <a:cs typeface="+mn-cs"/>
                        </a:rPr>
                        <a:t>不是说随便喷人，那肯定是会惹到别人</a:t>
                      </a:r>
                      <a:r>
                        <a:rPr lang="en-US" altLang="zh-CN" sz="1600" b="0" i="0" kern="1200" dirty="0">
                          <a:solidFill>
                            <a:schemeClr val="tx1"/>
                          </a:solidFill>
                          <a:effectLst/>
                          <a:latin typeface="+mn-ea"/>
                          <a:ea typeface="+mn-ea"/>
                          <a:cs typeface="+mn-cs"/>
                        </a:rPr>
                        <a:t>——</a:t>
                      </a:r>
                      <a:r>
                        <a:rPr lang="zh-CN" altLang="en-US" sz="1600" b="0" i="0" kern="1200" dirty="0">
                          <a:solidFill>
                            <a:schemeClr val="tx1"/>
                          </a:solidFill>
                          <a:effectLst/>
                          <a:latin typeface="+mn-ea"/>
                          <a:ea typeface="+mn-ea"/>
                          <a:cs typeface="+mn-cs"/>
                        </a:rPr>
                        <a:t>你是有一套自己的理解，我觉得其实大家是会尊重你的。</a:t>
                      </a:r>
                      <a:endParaRPr lang="en-US" altLang="zh-CN" sz="1600" b="0" i="0" kern="1200" dirty="0">
                        <a:solidFill>
                          <a:schemeClr val="tx1"/>
                        </a:solidFill>
                        <a:effectLst/>
                        <a:latin typeface="+mn-ea"/>
                        <a:ea typeface="+mn-ea"/>
                        <a:cs typeface="+mn-cs"/>
                      </a:endParaRPr>
                    </a:p>
                    <a:p>
                      <a:pPr marL="0" algn="l" defTabSz="914400" rtl="0" eaLnBrk="1" latinLnBrk="0" hangingPunct="1"/>
                      <a:r>
                        <a:rPr lang="zh-CN" altLang="en-US" sz="1600" b="0" i="0" kern="1200" dirty="0">
                          <a:solidFill>
                            <a:schemeClr val="tx1"/>
                          </a:solidFill>
                          <a:effectLst/>
                          <a:highlight>
                            <a:srgbClr val="FFFF00"/>
                          </a:highlight>
                          <a:latin typeface="+mn-ea"/>
                          <a:ea typeface="+mn-ea"/>
                          <a:cs typeface="+mn-cs"/>
                        </a:rPr>
                        <a:t>定义问题比解决问题更难</a:t>
                      </a:r>
                      <a:endParaRPr lang="en-US" altLang="zh-CN" sz="1600" b="0" i="0" kern="1200" dirty="0">
                        <a:solidFill>
                          <a:schemeClr val="tx1"/>
                        </a:solidFill>
                        <a:effectLst/>
                        <a:highlight>
                          <a:srgbClr val="FFFF00"/>
                        </a:highlight>
                        <a:latin typeface="+mn-ea"/>
                        <a:ea typeface="+mn-ea"/>
                        <a:cs typeface="+mn-cs"/>
                      </a:endParaRPr>
                    </a:p>
                    <a:p>
                      <a:pPr marL="0" algn="l" defTabSz="914400" rtl="0" eaLnBrk="1" latinLnBrk="0" hangingPunct="1"/>
                      <a:r>
                        <a:rPr lang="zh-CN" altLang="en-US" sz="1600" b="0" i="0" kern="1200" dirty="0">
                          <a:solidFill>
                            <a:schemeClr val="tx1"/>
                          </a:solidFill>
                          <a:effectLst/>
                          <a:latin typeface="+mn-ea"/>
                          <a:ea typeface="+mn-ea"/>
                          <a:cs typeface="+mn-cs"/>
                        </a:rPr>
                        <a:t>把简单的事做的比谁都干净，是最关键的</a:t>
                      </a:r>
                      <a:endParaRPr lang="en-CN" sz="1600" b="0" i="0" kern="1200" dirty="0">
                        <a:solidFill>
                          <a:schemeClr val="tx1"/>
                        </a:solidFill>
                        <a:effectLst/>
                        <a:latin typeface="+mn-ea"/>
                        <a:ea typeface="+mn-ea"/>
                        <a:cs typeface="+mn-cs"/>
                      </a:endParaRPr>
                    </a:p>
                  </a:txBody>
                  <a:tcPr/>
                </a:tc>
                <a:tc>
                  <a:txBody>
                    <a:bodyPr/>
                    <a:lstStyle/>
                    <a:p>
                      <a:r>
                        <a:rPr lang="en-US" sz="1600" dirty="0">
                          <a:latin typeface="+mn-ea"/>
                          <a:ea typeface="+mn-ea"/>
                        </a:rPr>
                        <a:t>3:48</a:t>
                      </a:r>
                      <a:endParaRPr lang="en-CN" sz="1600" dirty="0">
                        <a:latin typeface="+mn-ea"/>
                        <a:ea typeface="+mn-ea"/>
                      </a:endParaRPr>
                    </a:p>
                  </a:txBody>
                  <a:tcPr/>
                </a:tc>
                <a:extLst>
                  <a:ext uri="{0D108BD9-81ED-4DB2-BD59-A6C34878D82A}">
                    <a16:rowId xmlns:a16="http://schemas.microsoft.com/office/drawing/2014/main" val="231576629"/>
                  </a:ext>
                </a:extLst>
              </a:tr>
              <a:tr h="7636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i="0" kern="1200" dirty="0">
                          <a:solidFill>
                            <a:schemeClr val="tx1"/>
                          </a:solidFill>
                          <a:effectLst/>
                          <a:latin typeface="+mn-ea"/>
                          <a:ea typeface="+mn-ea"/>
                          <a:cs typeface="+mn-cs"/>
                        </a:rPr>
                        <a:t>姚顺雨</a:t>
                      </a:r>
                    </a:p>
                  </a:txBody>
                  <a:tcPr/>
                </a:tc>
                <a:tc>
                  <a:txBody>
                    <a:bodyPr/>
                    <a:lstStyle/>
                    <a:p>
                      <a:pPr marL="0" algn="l" defTabSz="914400" rtl="0" eaLnBrk="1" latinLnBrk="0" hangingPunct="1"/>
                      <a:r>
                        <a:rPr lang="en-CN" sz="1600" b="0" i="0" kern="1200" dirty="0">
                          <a:solidFill>
                            <a:schemeClr val="tx1"/>
                          </a:solidFill>
                          <a:effectLst/>
                          <a:highlight>
                            <a:srgbClr val="FFFF00"/>
                          </a:highlight>
                          <a:latin typeface="+mn-ea"/>
                          <a:ea typeface="+mn-ea"/>
                          <a:cs typeface="+mn-cs"/>
                        </a:rPr>
                        <a:t>世界既单极又多元</a:t>
                      </a:r>
                    </a:p>
                    <a:p>
                      <a:pPr marL="0" algn="l" defTabSz="914400" rtl="0" eaLnBrk="1" latinLnBrk="0" hangingPunct="1"/>
                      <a:r>
                        <a:rPr lang="zh-CN" altLang="en-US" sz="1600" b="0" i="0" kern="1200" dirty="0">
                          <a:solidFill>
                            <a:schemeClr val="tx1"/>
                          </a:solidFill>
                          <a:effectLst/>
                          <a:latin typeface="+mn-ea"/>
                          <a:ea typeface="+mn-ea"/>
                          <a:cs typeface="+mn-cs"/>
                        </a:rPr>
                        <a:t>语言是人为了实现泛化而发明出来的交流合作工具</a:t>
                      </a:r>
                      <a:endParaRPr lang="en-US" altLang="zh-CN" sz="1600" b="0" i="0" kern="1200" dirty="0">
                        <a:solidFill>
                          <a:schemeClr val="tx1"/>
                        </a:solidFill>
                        <a:effectLst/>
                        <a:latin typeface="+mn-ea"/>
                        <a:ea typeface="+mn-ea"/>
                        <a:cs typeface="+mn-cs"/>
                      </a:endParaRPr>
                    </a:p>
                    <a:p>
                      <a:pPr marL="0" algn="l" defTabSz="914400" rtl="0" eaLnBrk="1" latinLnBrk="0" hangingPunct="1"/>
                      <a:r>
                        <a:rPr lang="zh-CN" altLang="en-US" sz="1600" b="0" i="0" kern="1200" dirty="0">
                          <a:solidFill>
                            <a:schemeClr val="tx1"/>
                          </a:solidFill>
                          <a:effectLst/>
                          <a:latin typeface="+mn-ea"/>
                          <a:ea typeface="+mn-ea"/>
                          <a:cs typeface="+mn-cs"/>
                        </a:rPr>
                        <a:t>真正的危险，不是一个类似微信的东西打败了微信，而是一个完全不一样的东西打败了微信</a:t>
                      </a:r>
                      <a:endParaRPr lang="en-CN" sz="1600" b="0" i="0" kern="1200" dirty="0">
                        <a:solidFill>
                          <a:schemeClr val="tx1"/>
                        </a:solidFill>
                        <a:effectLst/>
                        <a:latin typeface="+mn-ea"/>
                        <a:ea typeface="+mn-ea"/>
                        <a:cs typeface="+mn-cs"/>
                      </a:endParaRPr>
                    </a:p>
                  </a:txBody>
                  <a:tcPr/>
                </a:tc>
                <a:tc>
                  <a:txBody>
                    <a:bodyPr/>
                    <a:lstStyle/>
                    <a:p>
                      <a:r>
                        <a:rPr lang="en-CN" sz="1600" dirty="0">
                          <a:latin typeface="+mn-ea"/>
                          <a:ea typeface="+mn-ea"/>
                        </a:rPr>
                        <a:t>2:31</a:t>
                      </a:r>
                    </a:p>
                  </a:txBody>
                  <a:tcPr/>
                </a:tc>
                <a:extLst>
                  <a:ext uri="{0D108BD9-81ED-4DB2-BD59-A6C34878D82A}">
                    <a16:rowId xmlns:a16="http://schemas.microsoft.com/office/drawing/2014/main" val="587308474"/>
                  </a:ext>
                </a:extLst>
              </a:tr>
              <a:tr h="562539">
                <a:tc>
                  <a:txBody>
                    <a:bodyPr/>
                    <a:lstStyle/>
                    <a:p>
                      <a:pPr marL="0" algn="l" defTabSz="914400" rtl="0" eaLnBrk="1" latinLnBrk="0" hangingPunct="1"/>
                      <a:r>
                        <a:rPr lang="en-CN" sz="1600" b="0" i="0" kern="1200" dirty="0">
                          <a:solidFill>
                            <a:schemeClr val="tx1"/>
                          </a:solidFill>
                          <a:effectLst/>
                          <a:latin typeface="+mn-ea"/>
                          <a:ea typeface="+mn-ea"/>
                          <a:cs typeface="+mn-cs"/>
                        </a:rPr>
                        <a:t>杨植麟</a:t>
                      </a:r>
                      <a:r>
                        <a:rPr lang="zh-CN" altLang="en-US" sz="1600" b="0" i="0" kern="1200" dirty="0">
                          <a:solidFill>
                            <a:schemeClr val="tx1"/>
                          </a:solidFill>
                          <a:effectLst/>
                          <a:latin typeface="+mn-ea"/>
                          <a:ea typeface="+mn-ea"/>
                          <a:cs typeface="+mn-cs"/>
                        </a:rPr>
                        <a:t> </a:t>
                      </a:r>
                      <a:r>
                        <a:rPr lang="en-US" altLang="zh-CN" sz="1600" b="0" i="0" kern="1200" dirty="0" err="1">
                          <a:solidFill>
                            <a:schemeClr val="tx1"/>
                          </a:solidFill>
                          <a:effectLst/>
                          <a:latin typeface="+mn-ea"/>
                          <a:ea typeface="+mn-ea"/>
                          <a:cs typeface="+mn-cs"/>
                        </a:rPr>
                        <a:t>kimi</a:t>
                      </a:r>
                      <a:endParaRPr lang="en-CN" sz="1600" b="0" i="0" kern="1200" dirty="0">
                        <a:solidFill>
                          <a:schemeClr val="tx1"/>
                        </a:solidFill>
                        <a:effectLst/>
                        <a:latin typeface="+mn-ea"/>
                        <a:ea typeface="+mn-ea"/>
                        <a:cs typeface="+mn-cs"/>
                      </a:endParaRPr>
                    </a:p>
                  </a:txBody>
                  <a:tcPr/>
                </a:tc>
                <a:tc>
                  <a:txBody>
                    <a:bodyPr/>
                    <a:lstStyle/>
                    <a:p>
                      <a:pPr marL="0" algn="l" defTabSz="914400" rtl="0" eaLnBrk="1" latinLnBrk="0" hangingPunct="1"/>
                      <a:r>
                        <a:rPr lang="zh-CN" altLang="en-US" sz="1600" dirty="0">
                          <a:highlight>
                            <a:srgbClr val="00FFFF"/>
                          </a:highlight>
                        </a:rPr>
                        <a:t>技术即产品  </a:t>
                      </a:r>
                      <a:r>
                        <a:rPr lang="en-CN" sz="1600" b="0" i="0" kern="1200" dirty="0">
                          <a:solidFill>
                            <a:schemeClr val="tx1"/>
                          </a:solidFill>
                          <a:effectLst/>
                          <a:latin typeface="+mn-ea"/>
                          <a:ea typeface="+mn-ea"/>
                          <a:cs typeface="+mn-cs"/>
                        </a:rPr>
                        <a:t>LLM缸中之脑</a:t>
                      </a:r>
                      <a:r>
                        <a:rPr lang="zh-CN" altLang="en-US" sz="1600" b="0" i="0" kern="1200" dirty="0">
                          <a:solidFill>
                            <a:schemeClr val="tx1"/>
                          </a:solidFill>
                          <a:effectLst/>
                          <a:latin typeface="+mn-ea"/>
                          <a:ea typeface="+mn-ea"/>
                          <a:cs typeface="+mn-cs"/>
                        </a:rPr>
                        <a:t>，向延绵而未知的雪山前进，无尽的开始</a:t>
                      </a:r>
                      <a:r>
                        <a:rPr lang="en-US" altLang="zh-CN" sz="1600" b="0" i="0" kern="1200" dirty="0">
                          <a:solidFill>
                            <a:schemeClr val="tx1"/>
                          </a:solidFill>
                          <a:effectLst/>
                          <a:latin typeface="+mn-ea"/>
                          <a:ea typeface="+mn-ea"/>
                          <a:cs typeface="+mn-cs"/>
                        </a:rPr>
                        <a:t>, </a:t>
                      </a:r>
                      <a:r>
                        <a:rPr lang="zh-CN" altLang="en-US" sz="1600" b="0" i="0" kern="1200" dirty="0">
                          <a:solidFill>
                            <a:schemeClr val="tx1"/>
                          </a:solidFill>
                          <a:effectLst/>
                          <a:latin typeface="+mn-ea"/>
                          <a:ea typeface="+mn-ea"/>
                          <a:cs typeface="+mn-cs"/>
                        </a:rPr>
                        <a:t>追求好解释，</a:t>
                      </a:r>
                      <a:r>
                        <a:rPr lang="zh-CN" altLang="en-US" sz="1600" b="0" i="0" kern="1200" dirty="0">
                          <a:solidFill>
                            <a:schemeClr val="tx1"/>
                          </a:solidFill>
                          <a:effectLst/>
                          <a:highlight>
                            <a:srgbClr val="FFFF00"/>
                          </a:highlight>
                          <a:latin typeface="+mn-ea"/>
                          <a:ea typeface="+mn-ea"/>
                          <a:cs typeface="+mn-cs"/>
                        </a:rPr>
                        <a:t>问题是不可避免的，问题是可以解决的</a:t>
                      </a:r>
                      <a:r>
                        <a:rPr lang="en-US" altLang="zh-CN" sz="1600" b="0" i="0" kern="1200" dirty="0">
                          <a:solidFill>
                            <a:schemeClr val="tx1"/>
                          </a:solidFill>
                          <a:effectLst/>
                          <a:highlight>
                            <a:srgbClr val="FFFF00"/>
                          </a:highlight>
                          <a:latin typeface="+mn-ea"/>
                          <a:ea typeface="+mn-ea"/>
                          <a:cs typeface="+mn-cs"/>
                        </a:rPr>
                        <a:t>.  </a:t>
                      </a:r>
                      <a:r>
                        <a:rPr lang="en-US" sz="1600" b="0" i="0" kern="1200" dirty="0" err="1">
                          <a:solidFill>
                            <a:schemeClr val="tx1"/>
                          </a:solidFill>
                          <a:effectLst/>
                          <a:latin typeface="+mn-ea"/>
                          <a:ea typeface="+mn-ea"/>
                          <a:cs typeface="+mn-cs"/>
                        </a:rPr>
                        <a:t>最好的一直都没有到来</a:t>
                      </a:r>
                      <a:r>
                        <a:rPr lang="en-US" sz="1600" b="0" i="0" kern="1200" dirty="0">
                          <a:solidFill>
                            <a:schemeClr val="tx1"/>
                          </a:solidFill>
                          <a:effectLst/>
                          <a:latin typeface="+mn-ea"/>
                          <a:ea typeface="+mn-ea"/>
                          <a:cs typeface="+mn-cs"/>
                        </a:rPr>
                        <a:t>,</a:t>
                      </a:r>
                      <a:r>
                        <a:rPr lang="zh-CN" altLang="en-US" sz="1600" b="0" i="0" kern="1200" dirty="0">
                          <a:solidFill>
                            <a:schemeClr val="tx1"/>
                          </a:solidFill>
                          <a:effectLst/>
                          <a:latin typeface="+mn-ea"/>
                          <a:ea typeface="+mn-ea"/>
                          <a:cs typeface="+mn-cs"/>
                        </a:rPr>
                        <a:t> 在自己的故事里，不断的感受，你是一个什么样的人，你为什么要做这件事</a:t>
                      </a:r>
                      <a:endParaRPr lang="en-CN" sz="1600" b="0" i="0" kern="1200" dirty="0">
                        <a:solidFill>
                          <a:schemeClr val="tx1"/>
                        </a:solidFill>
                        <a:effectLst/>
                        <a:latin typeface="+mn-ea"/>
                        <a:ea typeface="+mn-ea"/>
                        <a:cs typeface="+mn-cs"/>
                      </a:endParaRPr>
                    </a:p>
                  </a:txBody>
                  <a:tcPr/>
                </a:tc>
                <a:tc>
                  <a:txBody>
                    <a:bodyPr/>
                    <a:lstStyle/>
                    <a:p>
                      <a:r>
                        <a:rPr lang="en-US" altLang="zh-CN" sz="1600" dirty="0">
                          <a:latin typeface="+mn-ea"/>
                          <a:ea typeface="+mn-ea"/>
                        </a:rPr>
                        <a:t>1:39</a:t>
                      </a:r>
                      <a:endParaRPr lang="en-CN" sz="1600" dirty="0">
                        <a:latin typeface="+mn-ea"/>
                        <a:ea typeface="+mn-ea"/>
                      </a:endParaRPr>
                    </a:p>
                  </a:txBody>
                  <a:tcPr/>
                </a:tc>
                <a:extLst>
                  <a:ext uri="{0D108BD9-81ED-4DB2-BD59-A6C34878D82A}">
                    <a16:rowId xmlns:a16="http://schemas.microsoft.com/office/drawing/2014/main" val="134765358"/>
                  </a:ext>
                </a:extLst>
              </a:tr>
            </a:tbl>
          </a:graphicData>
        </a:graphic>
      </p:graphicFrame>
    </p:spTree>
    <p:extLst>
      <p:ext uri="{BB962C8B-B14F-4D97-AF65-F5344CB8AC3E}">
        <p14:creationId xmlns:p14="http://schemas.microsoft.com/office/powerpoint/2010/main" val="3631687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6DBA4BC-3806-0866-B2FF-1D4FD4F3379C}"/>
              </a:ext>
            </a:extLst>
          </p:cNvPr>
          <p:cNvGraphicFramePr>
            <a:graphicFrameLocks noGrp="1"/>
          </p:cNvGraphicFramePr>
          <p:nvPr>
            <p:extLst>
              <p:ext uri="{D42A27DB-BD31-4B8C-83A1-F6EECF244321}">
                <p14:modId xmlns:p14="http://schemas.microsoft.com/office/powerpoint/2010/main" val="3397677178"/>
              </p:ext>
            </p:extLst>
          </p:nvPr>
        </p:nvGraphicFramePr>
        <p:xfrm>
          <a:off x="0" y="2"/>
          <a:ext cx="12192001" cy="6860636"/>
        </p:xfrm>
        <a:graphic>
          <a:graphicData uri="http://schemas.openxmlformats.org/drawingml/2006/table">
            <a:tbl>
              <a:tblPr firstRow="1" bandRow="1">
                <a:tableStyleId>{2D5ABB26-0587-4C30-8999-92F81FD0307C}</a:tableStyleId>
              </a:tblPr>
              <a:tblGrid>
                <a:gridCol w="1140062">
                  <a:extLst>
                    <a:ext uri="{9D8B030D-6E8A-4147-A177-3AD203B41FA5}">
                      <a16:colId xmlns:a16="http://schemas.microsoft.com/office/drawing/2014/main" val="58421041"/>
                    </a:ext>
                  </a:extLst>
                </a:gridCol>
                <a:gridCol w="10017933">
                  <a:extLst>
                    <a:ext uri="{9D8B030D-6E8A-4147-A177-3AD203B41FA5}">
                      <a16:colId xmlns:a16="http://schemas.microsoft.com/office/drawing/2014/main" val="3596707140"/>
                    </a:ext>
                  </a:extLst>
                </a:gridCol>
                <a:gridCol w="1034006">
                  <a:extLst>
                    <a:ext uri="{9D8B030D-6E8A-4147-A177-3AD203B41FA5}">
                      <a16:colId xmlns:a16="http://schemas.microsoft.com/office/drawing/2014/main" val="3395717646"/>
                    </a:ext>
                  </a:extLst>
                </a:gridCol>
              </a:tblGrid>
              <a:tr h="350322">
                <a:tc>
                  <a:txBody>
                    <a:bodyPr/>
                    <a:lstStyle/>
                    <a:p>
                      <a:r>
                        <a:rPr lang="en-CN" sz="1600" dirty="0"/>
                        <a:t>Name</a:t>
                      </a:r>
                    </a:p>
                  </a:txBody>
                  <a:tcPr/>
                </a:tc>
                <a:tc>
                  <a:txBody>
                    <a:bodyPr/>
                    <a:lstStyle/>
                    <a:p>
                      <a:endParaRPr lang="en-CN" sz="1600" dirty="0"/>
                    </a:p>
                  </a:txBody>
                  <a:tcPr/>
                </a:tc>
                <a:tc>
                  <a:txBody>
                    <a:bodyPr/>
                    <a:lstStyle/>
                    <a:p>
                      <a:r>
                        <a:rPr lang="en-CN" sz="1600" dirty="0"/>
                        <a:t>Time(h)</a:t>
                      </a:r>
                    </a:p>
                  </a:txBody>
                  <a:tcPr/>
                </a:tc>
                <a:extLst>
                  <a:ext uri="{0D108BD9-81ED-4DB2-BD59-A6C34878D82A}">
                    <a16:rowId xmlns:a16="http://schemas.microsoft.com/office/drawing/2014/main" val="159235623"/>
                  </a:ext>
                </a:extLst>
              </a:tr>
              <a:tr h="1512492">
                <a:tc>
                  <a:txBody>
                    <a:bodyPr/>
                    <a:lstStyle/>
                    <a:p>
                      <a:pPr marL="0" algn="l" defTabSz="914400" rtl="0" eaLnBrk="1" latinLnBrk="0" hangingPunct="1"/>
                      <a:r>
                        <a:rPr lang="en-CN" sz="1600" b="0" i="0" kern="1200" dirty="0">
                          <a:solidFill>
                            <a:schemeClr val="tx1"/>
                          </a:solidFill>
                          <a:effectLst/>
                          <a:latin typeface="+mn-ea"/>
                          <a:ea typeface="+mn-ea"/>
                          <a:cs typeface="+mn-cs"/>
                        </a:rPr>
                        <a:t>曾鸣</a:t>
                      </a:r>
                    </a:p>
                  </a:txBody>
                  <a:tcPr/>
                </a:tc>
                <a:tc>
                  <a:txBody>
                    <a:bodyPr/>
                    <a:lstStyle/>
                    <a:p>
                      <a:pPr marL="0" algn="l" defTabSz="914400" rtl="0" eaLnBrk="1" latinLnBrk="0" hangingPunct="1"/>
                      <a:r>
                        <a:rPr lang="zh-CN" altLang="en-US" sz="1600" b="0" i="0" kern="1200" dirty="0">
                          <a:solidFill>
                            <a:schemeClr val="tx1"/>
                          </a:solidFill>
                          <a:effectLst/>
                          <a:highlight>
                            <a:srgbClr val="FFFF00"/>
                          </a:highlight>
                          <a:latin typeface="+mn-ea"/>
                          <a:ea typeface="+mn-ea"/>
                          <a:cs typeface="+mn-cs"/>
                        </a:rPr>
                        <a:t>优秀 </a:t>
                      </a:r>
                      <a:r>
                        <a:rPr lang="en-CN" sz="1600" b="0" i="0" kern="1200" dirty="0">
                          <a:solidFill>
                            <a:schemeClr val="tx1"/>
                          </a:solidFill>
                          <a:effectLst/>
                          <a:highlight>
                            <a:srgbClr val="FFFF00"/>
                          </a:highlight>
                          <a:latin typeface="+mn-ea"/>
                          <a:ea typeface="+mn-ea"/>
                          <a:cs typeface="+mn-cs"/>
                        </a:rPr>
                        <a:t>≠ </a:t>
                      </a:r>
                      <a:r>
                        <a:rPr lang="zh-CN" altLang="en-US" sz="1600" b="0" i="0" kern="1200" dirty="0">
                          <a:solidFill>
                            <a:schemeClr val="tx1"/>
                          </a:solidFill>
                          <a:effectLst/>
                          <a:highlight>
                            <a:srgbClr val="FFFF00"/>
                          </a:highlight>
                          <a:latin typeface="+mn-ea"/>
                          <a:ea typeface="+mn-ea"/>
                          <a:cs typeface="+mn-cs"/>
                        </a:rPr>
                        <a:t>卓越 </a:t>
                      </a:r>
                      <a:r>
                        <a:rPr lang="en-CN" sz="1600" b="0" i="0" kern="1200" dirty="0">
                          <a:solidFill>
                            <a:schemeClr val="tx1"/>
                          </a:solidFill>
                          <a:effectLst/>
                          <a:highlight>
                            <a:srgbClr val="FFFF00"/>
                          </a:highlight>
                          <a:latin typeface="+mn-ea"/>
                          <a:ea typeface="+mn-ea"/>
                          <a:cs typeface="+mn-cs"/>
                        </a:rPr>
                        <a:t>≠ </a:t>
                      </a:r>
                      <a:r>
                        <a:rPr lang="zh-CN" altLang="en-US" sz="1600" b="0" i="0" kern="1200" dirty="0">
                          <a:solidFill>
                            <a:schemeClr val="tx1"/>
                          </a:solidFill>
                          <a:effectLst/>
                          <a:highlight>
                            <a:srgbClr val="FFFF00"/>
                          </a:highlight>
                          <a:latin typeface="+mn-ea"/>
                          <a:ea typeface="+mn-ea"/>
                          <a:cs typeface="+mn-cs"/>
                        </a:rPr>
                        <a:t>伟大</a:t>
                      </a:r>
                      <a:r>
                        <a:rPr lang="en-US" altLang="zh-CN" sz="1600" b="0" i="0" kern="1200" dirty="0">
                          <a:solidFill>
                            <a:schemeClr val="tx1"/>
                          </a:solidFill>
                          <a:effectLst/>
                          <a:highlight>
                            <a:srgbClr val="FFFF00"/>
                          </a:highlight>
                          <a:latin typeface="+mn-ea"/>
                          <a:ea typeface="+mn-ea"/>
                          <a:cs typeface="+mn-cs"/>
                        </a:rPr>
                        <a:t>,  </a:t>
                      </a:r>
                      <a:r>
                        <a:rPr lang="zh-CN" altLang="en-US" sz="1600" b="0" i="0" kern="1200" dirty="0">
                          <a:solidFill>
                            <a:schemeClr val="tx1"/>
                          </a:solidFill>
                          <a:effectLst/>
                          <a:highlight>
                            <a:srgbClr val="FFFF00"/>
                          </a:highlight>
                          <a:latin typeface="+mn-ea"/>
                          <a:ea typeface="+mn-ea"/>
                          <a:cs typeface="+mn-cs"/>
                        </a:rPr>
                        <a:t>创造就是“无中生有”</a:t>
                      </a:r>
                      <a:endParaRPr lang="en-US" altLang="zh-CN" sz="1600" b="0" i="0" kern="1200" dirty="0">
                        <a:solidFill>
                          <a:schemeClr val="tx1"/>
                        </a:solidFill>
                        <a:effectLst/>
                        <a:highlight>
                          <a:srgbClr val="FFFF00"/>
                        </a:highlight>
                        <a:latin typeface="+mn-ea"/>
                        <a:ea typeface="+mn-ea"/>
                        <a:cs typeface="+mn-cs"/>
                      </a:endParaRPr>
                    </a:p>
                    <a:p>
                      <a:pPr marL="0" algn="l" defTabSz="914400" rtl="0" eaLnBrk="1" latinLnBrk="0" hangingPunct="1"/>
                      <a:r>
                        <a:rPr lang="zh-CN" altLang="en-US" sz="1600" b="0" i="0" kern="1200" dirty="0">
                          <a:solidFill>
                            <a:schemeClr val="tx1"/>
                          </a:solidFill>
                          <a:effectLst/>
                          <a:latin typeface="+mn-ea"/>
                          <a:ea typeface="+mn-ea"/>
                          <a:cs typeface="+mn-cs"/>
                        </a:rPr>
                        <a:t>人有生老病死，公司也有生老病死，没有比这更正常的了。这样，新公司才有机会，年轻人才有梦想，这多好的一件事情 </a:t>
                      </a:r>
                      <a:endParaRPr lang="en-US" altLang="zh-CN" sz="1600" b="0" i="0" kern="1200" dirty="0">
                        <a:solidFill>
                          <a:schemeClr val="tx1"/>
                        </a:solidFill>
                        <a:effectLst/>
                        <a:latin typeface="+mn-ea"/>
                        <a:ea typeface="+mn-ea"/>
                        <a:cs typeface="+mn-cs"/>
                      </a:endParaRPr>
                    </a:p>
                    <a:p>
                      <a:pPr marL="0" algn="l" defTabSz="914400" rtl="0" eaLnBrk="1" latinLnBrk="0" hangingPunct="1"/>
                      <a:r>
                        <a:rPr lang="zh-CN" altLang="en-US" sz="1600" b="0" i="0" kern="1200" dirty="0">
                          <a:solidFill>
                            <a:schemeClr val="tx1"/>
                          </a:solidFill>
                          <a:effectLst/>
                          <a:latin typeface="+mn-ea"/>
                          <a:ea typeface="+mn-ea"/>
                          <a:cs typeface="+mn-cs"/>
                        </a:rPr>
                        <a:t>这批创业者要过的最大的坎是有没有足够的开放的心态去理解商业世界的运作规律，</a:t>
                      </a:r>
                    </a:p>
                    <a:p>
                      <a:pPr marL="0" algn="l" defTabSz="914400" rtl="0" eaLnBrk="1" latinLnBrk="0" hangingPunct="1"/>
                      <a:r>
                        <a:rPr lang="zh-CN" altLang="en-US" sz="1600" b="0" i="0" kern="1200" dirty="0">
                          <a:solidFill>
                            <a:schemeClr val="tx1"/>
                          </a:solidFill>
                          <a:effectLst/>
                          <a:latin typeface="+mn-ea"/>
                          <a:ea typeface="+mn-ea"/>
                          <a:cs typeface="+mn-cs"/>
                        </a:rPr>
                        <a:t>经济学的规律是只要有同质化的攻给，你就不可能获得高额利润，你就是一家不怎么值钱的公司</a:t>
                      </a:r>
                      <a:endParaRPr lang="en-US" altLang="zh-CN" sz="1600" b="0" i="0" kern="1200" dirty="0">
                        <a:solidFill>
                          <a:schemeClr val="tx1"/>
                        </a:solidFill>
                        <a:effectLst/>
                        <a:latin typeface="+mn-ea"/>
                        <a:ea typeface="+mn-ea"/>
                        <a:cs typeface="+mn-cs"/>
                      </a:endParaRPr>
                    </a:p>
                    <a:p>
                      <a:pPr marL="0" algn="l" defTabSz="914400" rtl="0" eaLnBrk="1" latinLnBrk="0" hangingPunct="1"/>
                      <a:r>
                        <a:rPr lang="zh-CN" altLang="en-US" sz="1600" b="0" i="0" kern="1200" dirty="0">
                          <a:solidFill>
                            <a:schemeClr val="tx1"/>
                          </a:solidFill>
                          <a:effectLst/>
                          <a:latin typeface="+mn-ea"/>
                          <a:ea typeface="+mn-ea"/>
                          <a:cs typeface="+mn-cs"/>
                        </a:rPr>
                        <a:t>外加政治</a:t>
                      </a:r>
                      <a:endParaRPr lang="en-CN" sz="1600" b="0" i="0" kern="1200" dirty="0">
                        <a:solidFill>
                          <a:schemeClr val="tx1"/>
                        </a:solidFill>
                        <a:effectLst/>
                        <a:latin typeface="+mn-ea"/>
                        <a:ea typeface="+mn-ea"/>
                        <a:cs typeface="+mn-cs"/>
                      </a:endParaRPr>
                    </a:p>
                  </a:txBody>
                  <a:tcPr/>
                </a:tc>
                <a:tc>
                  <a:txBody>
                    <a:bodyPr/>
                    <a:lstStyle/>
                    <a:p>
                      <a:r>
                        <a:rPr lang="en-CN" sz="1600" dirty="0">
                          <a:latin typeface="+mn-ea"/>
                          <a:ea typeface="+mn-ea"/>
                        </a:rPr>
                        <a:t>2:34</a:t>
                      </a:r>
                    </a:p>
                  </a:txBody>
                  <a:tcPr/>
                </a:tc>
                <a:extLst>
                  <a:ext uri="{0D108BD9-81ED-4DB2-BD59-A6C34878D82A}">
                    <a16:rowId xmlns:a16="http://schemas.microsoft.com/office/drawing/2014/main" val="3109594203"/>
                  </a:ext>
                </a:extLst>
              </a:tr>
              <a:tr h="563477">
                <a:tc>
                  <a:txBody>
                    <a:bodyPr/>
                    <a:lstStyle/>
                    <a:p>
                      <a:pPr marL="0" algn="l" defTabSz="914400" rtl="0" eaLnBrk="1" latinLnBrk="0" hangingPunct="1"/>
                      <a:r>
                        <a:rPr lang="en-CN" sz="1600" b="0" i="0" kern="1200" dirty="0">
                          <a:solidFill>
                            <a:schemeClr val="tx1"/>
                          </a:solidFill>
                          <a:effectLst/>
                          <a:latin typeface="+mn-ea"/>
                          <a:ea typeface="+mn-ea"/>
                          <a:cs typeface="+mn-cs"/>
                        </a:rPr>
                        <a:t>张鹏</a:t>
                      </a:r>
                    </a:p>
                  </a:txBody>
                  <a:tcPr/>
                </a:tc>
                <a:tc>
                  <a:txBody>
                    <a:bodyPr/>
                    <a:lstStyle/>
                    <a:p>
                      <a:pPr marL="0" algn="l" defTabSz="914400" rtl="0" eaLnBrk="1" latinLnBrk="0" hangingPunct="1"/>
                      <a:r>
                        <a:rPr lang="en-CN" sz="1600" b="0" i="0" kern="1200" dirty="0">
                          <a:solidFill>
                            <a:schemeClr val="tx1"/>
                          </a:solidFill>
                          <a:effectLst/>
                          <a:latin typeface="+mn-ea"/>
                          <a:ea typeface="+mn-ea"/>
                          <a:cs typeface="+mn-cs"/>
                        </a:rPr>
                        <a:t>P2P Paper-To-Product  &lt;=&gt; Product-To-Paper</a:t>
                      </a:r>
                    </a:p>
                    <a:p>
                      <a:pPr marL="0" algn="l" defTabSz="914400" rtl="0" eaLnBrk="1" latinLnBrk="0" hangingPunct="1"/>
                      <a:r>
                        <a:rPr lang="en-CN" sz="1600" b="0" i="0" kern="1200" dirty="0">
                          <a:solidFill>
                            <a:schemeClr val="tx1"/>
                          </a:solidFill>
                          <a:effectLst/>
                          <a:latin typeface="+mn-ea"/>
                          <a:ea typeface="+mn-ea"/>
                          <a:cs typeface="+mn-cs"/>
                        </a:rPr>
                        <a:t>你人生的体验</a:t>
                      </a:r>
                      <a:r>
                        <a:rPr lang="zh-CN" altLang="en-US" sz="1600" b="0" i="0" kern="1200" dirty="0">
                          <a:solidFill>
                            <a:schemeClr val="tx1"/>
                          </a:solidFill>
                          <a:effectLst/>
                          <a:latin typeface="+mn-ea"/>
                          <a:ea typeface="+mn-ea"/>
                          <a:cs typeface="+mn-cs"/>
                        </a:rPr>
                        <a:t>，是你智能提升的一个必经的途径</a:t>
                      </a:r>
                      <a:endParaRPr lang="en-CN" sz="1600" b="0" i="0" kern="1200" dirty="0">
                        <a:solidFill>
                          <a:schemeClr val="tx1"/>
                        </a:solidFill>
                        <a:effectLst/>
                        <a:latin typeface="+mn-ea"/>
                        <a:ea typeface="+mn-ea"/>
                        <a:cs typeface="+mn-cs"/>
                      </a:endParaRPr>
                    </a:p>
                  </a:txBody>
                  <a:tcPr/>
                </a:tc>
                <a:tc>
                  <a:txBody>
                    <a:bodyPr/>
                    <a:lstStyle/>
                    <a:p>
                      <a:r>
                        <a:rPr lang="en-US" altLang="zh-CN" sz="1600" dirty="0">
                          <a:latin typeface="+mn-ea"/>
                          <a:ea typeface="+mn-ea"/>
                        </a:rPr>
                        <a:t>2:24</a:t>
                      </a:r>
                      <a:endParaRPr lang="en-CN" sz="1600" dirty="0">
                        <a:latin typeface="+mn-ea"/>
                        <a:ea typeface="+mn-ea"/>
                      </a:endParaRPr>
                    </a:p>
                  </a:txBody>
                  <a:tcPr/>
                </a:tc>
                <a:extLst>
                  <a:ext uri="{0D108BD9-81ED-4DB2-BD59-A6C34878D82A}">
                    <a16:rowId xmlns:a16="http://schemas.microsoft.com/office/drawing/2014/main" val="883369677"/>
                  </a:ext>
                </a:extLst>
              </a:tr>
              <a:tr h="563477">
                <a:tc>
                  <a:txBody>
                    <a:bodyPr/>
                    <a:lstStyle/>
                    <a:p>
                      <a:pPr marL="0" algn="l" defTabSz="914400" rtl="0" eaLnBrk="1" latinLnBrk="0" hangingPunct="1"/>
                      <a:r>
                        <a:rPr lang="en-CN" sz="1600" b="0" i="0" kern="1200" dirty="0">
                          <a:solidFill>
                            <a:schemeClr val="tx1"/>
                          </a:solidFill>
                          <a:effectLst/>
                          <a:latin typeface="+mn-ea"/>
                          <a:ea typeface="+mn-ea"/>
                          <a:cs typeface="+mn-cs"/>
                        </a:rPr>
                        <a:t>谢青池</a:t>
                      </a:r>
                    </a:p>
                  </a:txBody>
                  <a:tcPr/>
                </a:tc>
                <a:tc>
                  <a:txBody>
                    <a:bodyPr/>
                    <a:lstStyle/>
                    <a:p>
                      <a:pPr marL="0" algn="l" defTabSz="914400" rtl="0" eaLnBrk="1" latinLnBrk="0" hangingPunct="1"/>
                      <a:r>
                        <a:rPr lang="en-US" altLang="zh-CN" sz="1600" b="0" i="0" kern="1200" dirty="0">
                          <a:solidFill>
                            <a:schemeClr val="tx1"/>
                          </a:solidFill>
                          <a:effectLst/>
                          <a:latin typeface="+mn-ea"/>
                          <a:ea typeface="+mn-ea"/>
                          <a:cs typeface="+mn-cs"/>
                        </a:rPr>
                        <a:t>36</a:t>
                      </a:r>
                      <a:r>
                        <a:rPr lang="zh-CN" altLang="en-US" sz="1600" b="0" i="0" kern="1200" dirty="0">
                          <a:solidFill>
                            <a:schemeClr val="tx1"/>
                          </a:solidFill>
                          <a:effectLst/>
                          <a:latin typeface="+mn-ea"/>
                          <a:ea typeface="+mn-ea"/>
                          <a:cs typeface="+mn-cs"/>
                        </a:rPr>
                        <a:t> </a:t>
                      </a:r>
                      <a:r>
                        <a:rPr lang="en-US" altLang="zh-CN" sz="1600" b="0" i="0" kern="1200" dirty="0">
                          <a:solidFill>
                            <a:schemeClr val="tx1"/>
                          </a:solidFill>
                          <a:effectLst/>
                          <a:latin typeface="+mn-ea"/>
                          <a:ea typeface="+mn-ea"/>
                          <a:cs typeface="+mn-cs"/>
                        </a:rPr>
                        <a:t>AI Breakthrough Paper  https://</a:t>
                      </a:r>
                      <a:r>
                        <a:rPr lang="en-US" altLang="zh-CN" sz="1600" b="0" i="0" kern="1200" dirty="0" err="1">
                          <a:solidFill>
                            <a:schemeClr val="tx1"/>
                          </a:solidFill>
                          <a:effectLst/>
                          <a:latin typeface="+mn-ea"/>
                          <a:ea typeface="+mn-ea"/>
                          <a:cs typeface="+mn-cs"/>
                        </a:rPr>
                        <a:t>github.com</a:t>
                      </a:r>
                      <a:r>
                        <a:rPr lang="en-US" altLang="zh-CN" sz="1600" b="0" i="0" kern="1200" dirty="0">
                          <a:solidFill>
                            <a:schemeClr val="tx1"/>
                          </a:solidFill>
                          <a:effectLst/>
                          <a:latin typeface="+mn-ea"/>
                          <a:ea typeface="+mn-ea"/>
                          <a:cs typeface="+mn-cs"/>
                        </a:rPr>
                        <a:t>/</a:t>
                      </a:r>
                      <a:r>
                        <a:rPr lang="en-US" altLang="zh-CN" sz="1600" b="0" i="0" kern="1200" dirty="0" err="1">
                          <a:solidFill>
                            <a:schemeClr val="tx1"/>
                          </a:solidFill>
                          <a:effectLst/>
                          <a:latin typeface="+mn-ea"/>
                          <a:ea typeface="+mn-ea"/>
                          <a:cs typeface="+mn-cs"/>
                        </a:rPr>
                        <a:t>lovefunCode</a:t>
                      </a:r>
                      <a:r>
                        <a:rPr lang="en-US" altLang="zh-CN" sz="1600" b="0" i="0" kern="1200" dirty="0">
                          <a:solidFill>
                            <a:schemeClr val="tx1"/>
                          </a:solidFill>
                          <a:effectLst/>
                          <a:latin typeface="+mn-ea"/>
                          <a:ea typeface="+mn-ea"/>
                          <a:cs typeface="+mn-cs"/>
                        </a:rPr>
                        <a:t>/AI-Breakthrough-Paper/blob/main/AI-</a:t>
                      </a:r>
                      <a:r>
                        <a:rPr lang="en-US" altLang="zh-CN" sz="1600" b="0" i="0" kern="1200" dirty="0" err="1">
                          <a:solidFill>
                            <a:schemeClr val="tx1"/>
                          </a:solidFill>
                          <a:effectLst/>
                          <a:latin typeface="+mn-ea"/>
                          <a:ea typeface="+mn-ea"/>
                          <a:cs typeface="+mn-cs"/>
                        </a:rPr>
                        <a:t>Paper.pdf</a:t>
                      </a:r>
                      <a:endParaRPr lang="en-US" altLang="zh-CN" sz="1600" b="0" i="0" kern="1200" dirty="0">
                        <a:solidFill>
                          <a:schemeClr val="tx1"/>
                        </a:solidFill>
                        <a:effectLst/>
                        <a:latin typeface="+mn-ea"/>
                        <a:ea typeface="+mn-ea"/>
                        <a:cs typeface="+mn-cs"/>
                      </a:endParaRPr>
                    </a:p>
                    <a:p>
                      <a:pPr marL="0" algn="l" defTabSz="914400" rtl="0" eaLnBrk="1" latinLnBrk="0" hangingPunct="1"/>
                      <a:r>
                        <a:rPr lang="en-US" sz="1600" b="0" i="0" kern="1200" dirty="0" err="1">
                          <a:solidFill>
                            <a:schemeClr val="tx1"/>
                          </a:solidFill>
                          <a:effectLst/>
                          <a:latin typeface="+mn-ea"/>
                          <a:ea typeface="+mn-ea"/>
                          <a:cs typeface="+mn-cs"/>
                        </a:rPr>
                        <a:t>了解技术的边界</a:t>
                      </a:r>
                      <a:r>
                        <a:rPr lang="zh-CN" altLang="en-US" sz="1600" b="0" i="0" kern="1200" dirty="0">
                          <a:solidFill>
                            <a:schemeClr val="tx1"/>
                          </a:solidFill>
                          <a:effectLst/>
                          <a:latin typeface="+mn-ea"/>
                          <a:ea typeface="+mn-ea"/>
                          <a:cs typeface="+mn-cs"/>
                        </a:rPr>
                        <a:t>，才能更好的思考产品</a:t>
                      </a:r>
                      <a:endParaRPr lang="en-CN" sz="1600" b="0" i="0" kern="1200" dirty="0">
                        <a:solidFill>
                          <a:schemeClr val="tx1"/>
                        </a:solidFill>
                        <a:effectLst/>
                        <a:latin typeface="+mn-ea"/>
                        <a:ea typeface="+mn-ea"/>
                        <a:cs typeface="+mn-cs"/>
                      </a:endParaRPr>
                    </a:p>
                  </a:txBody>
                  <a:tcPr/>
                </a:tc>
                <a:tc>
                  <a:txBody>
                    <a:bodyPr/>
                    <a:lstStyle/>
                    <a:p>
                      <a:r>
                        <a:rPr lang="en-CN" sz="1600" dirty="0">
                          <a:latin typeface="+mn-ea"/>
                          <a:ea typeface="+mn-ea"/>
                        </a:rPr>
                        <a:t>4:22</a:t>
                      </a:r>
                    </a:p>
                  </a:txBody>
                  <a:tcPr/>
                </a:tc>
                <a:extLst>
                  <a:ext uri="{0D108BD9-81ED-4DB2-BD59-A6C34878D82A}">
                    <a16:rowId xmlns:a16="http://schemas.microsoft.com/office/drawing/2014/main" val="86015791"/>
                  </a:ext>
                </a:extLst>
              </a:tr>
              <a:tr h="800731">
                <a:tc>
                  <a:txBody>
                    <a:bodyPr/>
                    <a:lstStyle/>
                    <a:p>
                      <a:pPr marL="0" algn="l" defTabSz="914400" rtl="0" eaLnBrk="1" latinLnBrk="0" hangingPunct="1"/>
                      <a:r>
                        <a:rPr lang="zh-CN" altLang="en-US" sz="1600" b="0" i="0" kern="1200" dirty="0">
                          <a:solidFill>
                            <a:schemeClr val="tx1"/>
                          </a:solidFill>
                          <a:effectLst/>
                          <a:latin typeface="+mn-ea"/>
                          <a:ea typeface="+mn-ea"/>
                          <a:cs typeface="+mn-cs"/>
                        </a:rPr>
                        <a:t>何俊贤</a:t>
                      </a:r>
                      <a:endParaRPr lang="en-CN" sz="1600" b="0" i="0" kern="1200" dirty="0">
                        <a:solidFill>
                          <a:schemeClr val="tx1"/>
                        </a:solidFill>
                        <a:effectLst/>
                        <a:latin typeface="+mn-ea"/>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N" sz="1600" b="0" i="0" kern="1200" dirty="0">
                          <a:solidFill>
                            <a:schemeClr val="tx1"/>
                          </a:solidFill>
                          <a:effectLst/>
                          <a:latin typeface="+mn-ea"/>
                          <a:ea typeface="+mn-ea"/>
                          <a:cs typeface="+mn-cs"/>
                        </a:rPr>
                        <a:t>DeepSeek 9 Paper</a:t>
                      </a:r>
                      <a:r>
                        <a:rPr lang="zh-CN" altLang="en-US" sz="1600" b="0" i="0" kern="1200" dirty="0">
                          <a:solidFill>
                            <a:schemeClr val="tx1"/>
                          </a:solidFill>
                          <a:effectLst/>
                          <a:latin typeface="+mn-ea"/>
                          <a:ea typeface="+mn-ea"/>
                          <a:cs typeface="+mn-cs"/>
                        </a:rPr>
                        <a:t>  </a:t>
                      </a:r>
                      <a:endParaRPr lang="en-US" altLang="zh-CN" sz="1600" b="0" i="0" kern="1200" dirty="0">
                        <a:solidFill>
                          <a:schemeClr val="tx1"/>
                        </a:solidFill>
                        <a:effectLst/>
                        <a:latin typeface="+mn-e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N" sz="1600" b="0" i="0" kern="1200" dirty="0">
                          <a:solidFill>
                            <a:schemeClr val="tx1"/>
                          </a:solidFill>
                          <a:effectLst/>
                          <a:latin typeface="+mn-ea"/>
                          <a:ea typeface="+mn-ea"/>
                          <a:cs typeface="+mn-cs"/>
                        </a:rPr>
                        <a:t>世界是</a:t>
                      </a:r>
                      <a:r>
                        <a:rPr lang="zh-CN" altLang="en-US" sz="1600" b="0" i="0" kern="1200" dirty="0">
                          <a:solidFill>
                            <a:schemeClr val="tx1"/>
                          </a:solidFill>
                          <a:effectLst/>
                          <a:latin typeface="+mn-ea"/>
                          <a:ea typeface="+mn-ea"/>
                          <a:cs typeface="+mn-cs"/>
                        </a:rPr>
                        <a:t>“</a:t>
                      </a:r>
                      <a:r>
                        <a:rPr lang="en-CN" sz="1600" b="0" i="0" kern="1200" dirty="0">
                          <a:solidFill>
                            <a:schemeClr val="tx1"/>
                          </a:solidFill>
                          <a:effectLst/>
                          <a:latin typeface="+mn-ea"/>
                          <a:ea typeface="+mn-ea"/>
                          <a:cs typeface="+mn-cs"/>
                        </a:rPr>
                        <a:t>勇敢者的游戏</a:t>
                      </a:r>
                      <a:r>
                        <a:rPr lang="zh-CN" altLang="en-US" sz="1600" b="0" i="0" kern="1200" dirty="0">
                          <a:solidFill>
                            <a:schemeClr val="tx1"/>
                          </a:solidFill>
                          <a:effectLst/>
                          <a:latin typeface="+mn-ea"/>
                          <a:ea typeface="+mn-ea"/>
                          <a:cs typeface="+mn-cs"/>
                        </a:rPr>
                        <a:t>”  </a:t>
                      </a:r>
                      <a:endParaRPr lang="en-US" altLang="zh-CN" sz="1600" b="0" i="0" kern="1200" dirty="0">
                        <a:solidFill>
                          <a:schemeClr val="tx1"/>
                        </a:solidFill>
                        <a:effectLst/>
                        <a:latin typeface="+mn-ea"/>
                        <a:ea typeface="+mn-ea"/>
                        <a:cs typeface="+mn-cs"/>
                      </a:endParaRPr>
                    </a:p>
                    <a:p>
                      <a:pPr marL="0" algn="l" defTabSz="914400" rtl="0" eaLnBrk="1" latinLnBrk="0" hangingPunct="1"/>
                      <a:r>
                        <a:rPr lang="en-US" sz="1600" b="0" i="0" kern="1200" dirty="0">
                          <a:solidFill>
                            <a:schemeClr val="tx1"/>
                          </a:solidFill>
                          <a:effectLst/>
                          <a:latin typeface="+mn-ea"/>
                          <a:ea typeface="+mn-ea"/>
                          <a:cs typeface="+mn-cs"/>
                        </a:rPr>
                        <a:t>GRPO/ MLA  https://</a:t>
                      </a:r>
                      <a:r>
                        <a:rPr lang="en-US" sz="1600" b="0" i="0" kern="1200" dirty="0" err="1">
                          <a:solidFill>
                            <a:schemeClr val="tx1"/>
                          </a:solidFill>
                          <a:effectLst/>
                          <a:latin typeface="+mn-ea"/>
                          <a:ea typeface="+mn-ea"/>
                          <a:cs typeface="+mn-cs"/>
                        </a:rPr>
                        <a:t>github.com</a:t>
                      </a:r>
                      <a:r>
                        <a:rPr lang="en-US" sz="1600" b="0" i="0" kern="1200" dirty="0">
                          <a:solidFill>
                            <a:schemeClr val="tx1"/>
                          </a:solidFill>
                          <a:effectLst/>
                          <a:latin typeface="+mn-ea"/>
                          <a:ea typeface="+mn-ea"/>
                          <a:cs typeface="+mn-cs"/>
                        </a:rPr>
                        <a:t>/</a:t>
                      </a:r>
                      <a:r>
                        <a:rPr lang="en-US" sz="1600" b="0" i="0" kern="1200" dirty="0" err="1">
                          <a:solidFill>
                            <a:schemeClr val="tx1"/>
                          </a:solidFill>
                          <a:effectLst/>
                          <a:latin typeface="+mn-ea"/>
                          <a:ea typeface="+mn-ea"/>
                          <a:cs typeface="+mn-cs"/>
                        </a:rPr>
                        <a:t>lovefunCode</a:t>
                      </a:r>
                      <a:r>
                        <a:rPr lang="en-US" sz="1600" b="0" i="0" kern="1200" dirty="0">
                          <a:solidFill>
                            <a:schemeClr val="tx1"/>
                          </a:solidFill>
                          <a:effectLst/>
                          <a:latin typeface="+mn-ea"/>
                          <a:ea typeface="+mn-ea"/>
                          <a:cs typeface="+mn-cs"/>
                        </a:rPr>
                        <a:t>/AI-Breakthrough-Paper/blob/main/</a:t>
                      </a:r>
                      <a:r>
                        <a:rPr lang="en-US" sz="1600" b="0" i="0" kern="1200" dirty="0" err="1">
                          <a:solidFill>
                            <a:schemeClr val="tx1"/>
                          </a:solidFill>
                          <a:effectLst/>
                          <a:latin typeface="+mn-ea"/>
                          <a:ea typeface="+mn-ea"/>
                          <a:cs typeface="+mn-cs"/>
                        </a:rPr>
                        <a:t>deepSeek-Paper.pdf</a:t>
                      </a:r>
                      <a:endParaRPr lang="en-CN" sz="1600" b="0" i="0" kern="1200" dirty="0">
                        <a:solidFill>
                          <a:schemeClr val="tx1"/>
                        </a:solidFill>
                        <a:effectLst/>
                        <a:latin typeface="+mn-ea"/>
                        <a:ea typeface="+mn-ea"/>
                        <a:cs typeface="+mn-cs"/>
                      </a:endParaRPr>
                    </a:p>
                  </a:txBody>
                  <a:tcPr/>
                </a:tc>
                <a:tc>
                  <a:txBody>
                    <a:bodyPr/>
                    <a:lstStyle/>
                    <a:p>
                      <a:r>
                        <a:rPr lang="en-CN" sz="1600" dirty="0"/>
                        <a:t>3:20</a:t>
                      </a:r>
                    </a:p>
                  </a:txBody>
                  <a:tcPr/>
                </a:tc>
                <a:extLst>
                  <a:ext uri="{0D108BD9-81ED-4DB2-BD59-A6C34878D82A}">
                    <a16:rowId xmlns:a16="http://schemas.microsoft.com/office/drawing/2014/main" val="928512990"/>
                  </a:ext>
                </a:extLst>
              </a:tr>
              <a:tr h="563477">
                <a:tc>
                  <a:txBody>
                    <a:bodyPr/>
                    <a:lstStyle/>
                    <a:p>
                      <a:r>
                        <a:rPr lang="en-CN" sz="1600" dirty="0"/>
                        <a:t>廖恒</a:t>
                      </a:r>
                    </a:p>
                  </a:txBody>
                  <a:tcPr/>
                </a:tc>
                <a:tc>
                  <a:txBody>
                    <a:bodyPr/>
                    <a:lstStyle/>
                    <a:p>
                      <a:r>
                        <a:rPr lang="zh-CN" altLang="en-US" sz="1600" dirty="0">
                          <a:highlight>
                            <a:srgbClr val="FFFF00"/>
                          </a:highlight>
                        </a:rPr>
                        <a:t>我如果没有见到，我就不知道，永远是 缺一口气的</a:t>
                      </a:r>
                      <a:endParaRPr lang="en-US" altLang="zh-CN" sz="1600" dirty="0">
                        <a:highlight>
                          <a:srgbClr val="FFFF00"/>
                        </a:highlight>
                      </a:endParaRPr>
                    </a:p>
                    <a:p>
                      <a:r>
                        <a:rPr lang="zh-CN" altLang="en-US" sz="1600" dirty="0"/>
                        <a:t>世界就是这么奇妙，往往不是最富有的孩子，他就会更成功</a:t>
                      </a:r>
                      <a:endParaRPr lang="en-CN" sz="1600" dirty="0"/>
                    </a:p>
                  </a:txBody>
                  <a:tcPr/>
                </a:tc>
                <a:tc>
                  <a:txBody>
                    <a:bodyPr/>
                    <a:lstStyle/>
                    <a:p>
                      <a:r>
                        <a:rPr lang="en-US" altLang="zh-CN" sz="1600" dirty="0"/>
                        <a:t>4:37</a:t>
                      </a:r>
                      <a:endParaRPr lang="en-CN" sz="1600" dirty="0"/>
                    </a:p>
                  </a:txBody>
                  <a:tcPr/>
                </a:tc>
                <a:extLst>
                  <a:ext uri="{0D108BD9-81ED-4DB2-BD59-A6C34878D82A}">
                    <a16:rowId xmlns:a16="http://schemas.microsoft.com/office/drawing/2014/main" val="2124854330"/>
                  </a:ext>
                </a:extLst>
              </a:tr>
              <a:tr h="563477">
                <a:tc>
                  <a:txBody>
                    <a:bodyPr/>
                    <a:lstStyle/>
                    <a:p>
                      <a:r>
                        <a:rPr lang="en-CN" sz="1600" dirty="0"/>
                        <a:t>Manus Peak</a:t>
                      </a:r>
                    </a:p>
                  </a:txBody>
                  <a:tcPr/>
                </a:tc>
                <a:tc>
                  <a:txBody>
                    <a:bodyPr/>
                    <a:lstStyle/>
                    <a:p>
                      <a:pPr marL="0" algn="l" defTabSz="914400" rtl="0" eaLnBrk="1" latinLnBrk="0" hangingPunct="1"/>
                      <a:r>
                        <a:rPr lang="en-US" sz="1600" kern="1200" dirty="0">
                          <a:solidFill>
                            <a:schemeClr val="tx1"/>
                          </a:solidFill>
                          <a:latin typeface="+mn-lt"/>
                          <a:ea typeface="+mn-ea"/>
                          <a:cs typeface="+mn-cs"/>
                        </a:rPr>
                        <a:t>B</a:t>
                      </a:r>
                      <a:r>
                        <a:rPr lang="en-CN" sz="1600" kern="1200" dirty="0">
                          <a:solidFill>
                            <a:schemeClr val="tx1"/>
                          </a:solidFill>
                          <a:latin typeface="+mn-lt"/>
                          <a:ea typeface="+mn-ea"/>
                          <a:cs typeface="+mn-cs"/>
                        </a:rPr>
                        <a:t>alance 竞合关系</a:t>
                      </a:r>
                      <a:r>
                        <a:rPr lang="zh-CN" altLang="en-US" sz="1600" kern="1200" dirty="0">
                          <a:solidFill>
                            <a:schemeClr val="tx1"/>
                          </a:solidFill>
                          <a:latin typeface="+mn-lt"/>
                          <a:ea typeface="+mn-ea"/>
                          <a:cs typeface="+mn-cs"/>
                        </a:rPr>
                        <a:t>， </a:t>
                      </a:r>
                      <a:r>
                        <a:rPr lang="zh-CN" altLang="en-US" sz="1600" dirty="0"/>
                        <a:t>早一步是先驱，走十步就是先烈</a:t>
                      </a:r>
                      <a:endParaRPr lang="en-US" altLang="zh-CN" sz="1600" dirty="0"/>
                    </a:p>
                    <a:p>
                      <a:pPr marL="0" algn="l" defTabSz="914400" rtl="0" eaLnBrk="1" latinLnBrk="0" hangingPunct="1"/>
                      <a:r>
                        <a:rPr lang="zh-CN" altLang="en-US" sz="1600" dirty="0"/>
                        <a:t>每增加一个东西都会稀释所有的价值</a:t>
                      </a:r>
                      <a:r>
                        <a:rPr lang="en-US" altLang="zh-CN" sz="1600" dirty="0"/>
                        <a:t> Anything added dilutes everything else</a:t>
                      </a:r>
                      <a:endParaRPr lang="en-CN" sz="1600" kern="1200" dirty="0">
                        <a:solidFill>
                          <a:schemeClr val="tx1"/>
                        </a:solidFill>
                        <a:latin typeface="+mn-lt"/>
                        <a:ea typeface="+mn-ea"/>
                        <a:cs typeface="+mn-cs"/>
                      </a:endParaRPr>
                    </a:p>
                  </a:txBody>
                  <a:tcPr/>
                </a:tc>
                <a:tc>
                  <a:txBody>
                    <a:bodyPr/>
                    <a:lstStyle/>
                    <a:p>
                      <a:r>
                        <a:rPr lang="en-CN" sz="1600" dirty="0"/>
                        <a:t>3:31</a:t>
                      </a:r>
                    </a:p>
                  </a:txBody>
                  <a:tcPr/>
                </a:tc>
                <a:extLst>
                  <a:ext uri="{0D108BD9-81ED-4DB2-BD59-A6C34878D82A}">
                    <a16:rowId xmlns:a16="http://schemas.microsoft.com/office/drawing/2014/main" val="231576629"/>
                  </a:ext>
                </a:extLst>
              </a:tr>
              <a:tr h="355880">
                <a:tc>
                  <a:txBody>
                    <a:bodyPr/>
                    <a:lstStyle/>
                    <a:p>
                      <a:r>
                        <a:rPr lang="zh-CN" altLang="en-US" sz="1800" b="0" i="0" kern="1200" dirty="0">
                          <a:solidFill>
                            <a:schemeClr val="tx1"/>
                          </a:solidFill>
                          <a:effectLst/>
                          <a:latin typeface="+mn-lt"/>
                          <a:ea typeface="+mn-ea"/>
                          <a:cs typeface="+mn-cs"/>
                        </a:rPr>
                        <a:t>孙宇涛</a:t>
                      </a:r>
                      <a:endParaRPr lang="en-C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N" sz="1600" dirty="0"/>
                        <a:t>K3 2.8T report</a:t>
                      </a:r>
                    </a:p>
                  </a:txBody>
                  <a:tcPr/>
                </a:tc>
                <a:tc>
                  <a:txBody>
                    <a:bodyPr/>
                    <a:lstStyle/>
                    <a:p>
                      <a:r>
                        <a:rPr lang="en-CN" sz="1600" dirty="0"/>
                        <a:t>2:04</a:t>
                      </a:r>
                    </a:p>
                  </a:txBody>
                  <a:tcPr/>
                </a:tc>
                <a:extLst>
                  <a:ext uri="{0D108BD9-81ED-4DB2-BD59-A6C34878D82A}">
                    <a16:rowId xmlns:a16="http://schemas.microsoft.com/office/drawing/2014/main" val="134765358"/>
                  </a:ext>
                </a:extLst>
              </a:tr>
              <a:tr h="800731">
                <a:tc>
                  <a:txBody>
                    <a:bodyPr/>
                    <a:lstStyle/>
                    <a:p>
                      <a:r>
                        <a:rPr lang="en-CN" sz="1600" kern="1200" dirty="0">
                          <a:solidFill>
                            <a:schemeClr val="tx1"/>
                          </a:solidFill>
                          <a:latin typeface="+mn-lt"/>
                          <a:ea typeface="+mn-ea"/>
                          <a:cs typeface="+mn-cs"/>
                        </a:rPr>
                        <a:t>闫俊杰</a:t>
                      </a:r>
                    </a:p>
                    <a:p>
                      <a:r>
                        <a:rPr lang="en-CN" sz="1600" kern="1200" dirty="0">
                          <a:solidFill>
                            <a:schemeClr val="tx1"/>
                          </a:solidFill>
                          <a:latin typeface="+mn-lt"/>
                          <a:ea typeface="+mn-ea"/>
                          <a:cs typeface="+mn-cs"/>
                        </a:rPr>
                        <a:t>MiniMax</a:t>
                      </a:r>
                    </a:p>
                  </a:txBody>
                  <a:tcPr/>
                </a:tc>
                <a:tc>
                  <a:txBody>
                    <a:bodyPr/>
                    <a:lstStyle/>
                    <a:p>
                      <a:r>
                        <a:rPr lang="en-CN" sz="1600" kern="1200" dirty="0">
                          <a:solidFill>
                            <a:schemeClr val="tx1"/>
                          </a:solidFill>
                          <a:latin typeface="+mn-lt"/>
                          <a:ea typeface="+mn-ea"/>
                          <a:cs typeface="+mn-cs"/>
                        </a:rPr>
                        <a:t>看论文和看短视频一样</a:t>
                      </a:r>
                      <a:r>
                        <a:rPr lang="zh-CN" altLang="en-US" sz="1600" kern="1200" dirty="0">
                          <a:solidFill>
                            <a:schemeClr val="tx1"/>
                          </a:solidFill>
                          <a:latin typeface="+mn-lt"/>
                          <a:ea typeface="+mn-ea"/>
                          <a:cs typeface="+mn-cs"/>
                        </a:rPr>
                        <a:t>， </a:t>
                      </a:r>
                      <a:r>
                        <a:rPr lang="zh-CN" altLang="en-US" sz="1600" kern="1200" dirty="0">
                          <a:solidFill>
                            <a:schemeClr val="tx1"/>
                          </a:solidFill>
                          <a:highlight>
                            <a:srgbClr val="00FFFF"/>
                          </a:highlight>
                          <a:latin typeface="+mn-lt"/>
                          <a:ea typeface="+mn-ea"/>
                          <a:cs typeface="+mn-cs"/>
                        </a:rPr>
                        <a:t>技术即产品 </a:t>
                      </a:r>
                      <a:endParaRPr lang="en-US" altLang="zh-CN" sz="1600" kern="1200" dirty="0">
                        <a:solidFill>
                          <a:schemeClr val="tx1"/>
                        </a:solidFill>
                        <a:highlight>
                          <a:srgbClr val="00FFFF"/>
                        </a:highlight>
                        <a:latin typeface="+mn-lt"/>
                        <a:ea typeface="+mn-ea"/>
                        <a:cs typeface="+mn-cs"/>
                      </a:endParaRPr>
                    </a:p>
                    <a:p>
                      <a:r>
                        <a:rPr lang="zh-CN" altLang="en-US" sz="1600" kern="1200" dirty="0">
                          <a:solidFill>
                            <a:schemeClr val="tx1"/>
                          </a:solidFill>
                          <a:latin typeface="+mn-lt"/>
                          <a:ea typeface="+mn-ea"/>
                          <a:cs typeface="+mn-cs"/>
                        </a:rPr>
                        <a:t>一定要做取舍，一定要选一些更加长期、能够根本性发生变化的东西，而不是去做一些修补的东西</a:t>
                      </a:r>
                      <a:endParaRPr lang="en-US" altLang="zh-CN" sz="1600" kern="1200" dirty="0">
                        <a:solidFill>
                          <a:schemeClr val="tx1"/>
                        </a:solidFill>
                        <a:latin typeface="+mn-lt"/>
                        <a:ea typeface="+mn-ea"/>
                        <a:cs typeface="+mn-cs"/>
                      </a:endParaRPr>
                    </a:p>
                    <a:p>
                      <a:r>
                        <a:rPr lang="en-US" sz="1600" kern="1200" dirty="0">
                          <a:solidFill>
                            <a:schemeClr val="tx1"/>
                          </a:solidFill>
                          <a:latin typeface="+mn-lt"/>
                          <a:ea typeface="+mn-ea"/>
                          <a:cs typeface="+mn-cs"/>
                        </a:rPr>
                        <a:t>AI </a:t>
                      </a:r>
                      <a:r>
                        <a:rPr lang="zh-CN" altLang="en-US" sz="1600" kern="1200" dirty="0">
                          <a:solidFill>
                            <a:schemeClr val="tx1"/>
                          </a:solidFill>
                          <a:latin typeface="+mn-lt"/>
                          <a:ea typeface="+mn-ea"/>
                          <a:cs typeface="+mn-cs"/>
                        </a:rPr>
                        <a:t>不会一家独大，但也不会百家争鸣，最终会收敛到少数几家基于不同取舍的共存格局</a:t>
                      </a:r>
                      <a:endParaRPr lang="en-CN" sz="1600" kern="1200" dirty="0">
                        <a:solidFill>
                          <a:schemeClr val="tx1"/>
                        </a:solidFill>
                        <a:latin typeface="+mn-lt"/>
                        <a:ea typeface="+mn-ea"/>
                        <a:cs typeface="+mn-cs"/>
                      </a:endParaRPr>
                    </a:p>
                  </a:txBody>
                  <a:tcPr/>
                </a:tc>
                <a:tc>
                  <a:txBody>
                    <a:bodyPr/>
                    <a:lstStyle/>
                    <a:p>
                      <a:r>
                        <a:rPr lang="en-US" altLang="zh-CN" sz="1600" dirty="0"/>
                        <a:t>3:50</a:t>
                      </a:r>
                      <a:endParaRPr lang="en-CN" sz="1600" dirty="0"/>
                    </a:p>
                  </a:txBody>
                  <a:tcPr/>
                </a:tc>
                <a:extLst>
                  <a:ext uri="{0D108BD9-81ED-4DB2-BD59-A6C34878D82A}">
                    <a16:rowId xmlns:a16="http://schemas.microsoft.com/office/drawing/2014/main" val="2588076320"/>
                  </a:ext>
                </a:extLst>
              </a:tr>
              <a:tr h="627674">
                <a:tc>
                  <a:txBody>
                    <a:bodyPr/>
                    <a:lstStyle/>
                    <a:p>
                      <a:pPr marL="0" algn="l" defTabSz="914400" rtl="0" eaLnBrk="1" latinLnBrk="0" hangingPunct="1"/>
                      <a:r>
                        <a:rPr lang="zh-CN" altLang="en-US" sz="1800" b="0" i="0" kern="1200" dirty="0">
                          <a:solidFill>
                            <a:schemeClr val="tx1"/>
                          </a:solidFill>
                          <a:effectLst/>
                          <a:latin typeface="+mn-lt"/>
                          <a:ea typeface="+mn-ea"/>
                          <a:cs typeface="+mn-cs"/>
                        </a:rPr>
                        <a:t>郑博元</a:t>
                      </a:r>
                      <a:endParaRPr lang="en-CN" sz="1600" b="0" i="0" kern="1200" dirty="0">
                        <a:solidFill>
                          <a:schemeClr val="tx1"/>
                        </a:solidFill>
                        <a:effectLst/>
                        <a:latin typeface="+mn-ea"/>
                        <a:ea typeface="+mn-ea"/>
                        <a:cs typeface="+mn-cs"/>
                      </a:endParaRPr>
                    </a:p>
                  </a:txBody>
                  <a:tcPr/>
                </a:tc>
                <a:tc>
                  <a:txBody>
                    <a:bodyPr/>
                    <a:lstStyle/>
                    <a:p>
                      <a:pPr marL="0" algn="l" defTabSz="914400" rtl="0" eaLnBrk="1" latinLnBrk="0" hangingPunct="1"/>
                      <a:r>
                        <a:rPr lang="en-CN" sz="1600" b="0" i="0" kern="1200" dirty="0">
                          <a:solidFill>
                            <a:schemeClr val="tx1"/>
                          </a:solidFill>
                          <a:effectLst/>
                          <a:latin typeface="+mn-ea"/>
                          <a:ea typeface="+mn-ea"/>
                          <a:cs typeface="+mn-cs"/>
                        </a:rPr>
                        <a:t>Language </a:t>
                      </a:r>
                      <a:r>
                        <a:rPr lang="en-US" sz="1600" b="0" i="0" kern="1200" dirty="0">
                          <a:solidFill>
                            <a:schemeClr val="tx1"/>
                          </a:solidFill>
                          <a:effectLst/>
                          <a:latin typeface="+mn-ea"/>
                          <a:ea typeface="+mn-ea"/>
                          <a:cs typeface="+mn-cs"/>
                        </a:rPr>
                        <a:t>Agent</a:t>
                      </a:r>
                      <a:r>
                        <a:rPr lang="zh-CN" altLang="en-US" sz="1600" b="0" i="0" kern="1200" dirty="0">
                          <a:solidFill>
                            <a:schemeClr val="tx1"/>
                          </a:solidFill>
                          <a:effectLst/>
                          <a:latin typeface="+mn-ea"/>
                          <a:ea typeface="+mn-ea"/>
                          <a:cs typeface="+mn-cs"/>
                        </a:rPr>
                        <a:t>是一种能够观察环境并与环境进行交互（</a:t>
                      </a:r>
                      <a:r>
                        <a:rPr lang="en-US" sz="1600" b="0" i="0" kern="1200" dirty="0">
                          <a:solidFill>
                            <a:schemeClr val="tx1"/>
                          </a:solidFill>
                          <a:effectLst/>
                          <a:latin typeface="+mn-ea"/>
                          <a:ea typeface="+mn-ea"/>
                          <a:cs typeface="+mn-cs"/>
                        </a:rPr>
                        <a:t>interaction）</a:t>
                      </a:r>
                      <a:r>
                        <a:rPr lang="zh-CN" altLang="en-US" sz="1600" b="0" i="0" kern="1200" dirty="0">
                          <a:solidFill>
                            <a:schemeClr val="tx1"/>
                          </a:solidFill>
                          <a:effectLst/>
                          <a:latin typeface="+mn-ea"/>
                          <a:ea typeface="+mn-ea"/>
                          <a:cs typeface="+mn-cs"/>
                        </a:rPr>
                        <a:t>的智能系统</a:t>
                      </a:r>
                      <a:endParaRPr lang="en-CN" sz="1600" b="0" i="0" kern="1200" dirty="0">
                        <a:solidFill>
                          <a:schemeClr val="tx1"/>
                        </a:solidFill>
                        <a:effectLst/>
                        <a:latin typeface="+mn-ea"/>
                        <a:ea typeface="+mn-ea"/>
                        <a:cs typeface="+mn-cs"/>
                      </a:endParaRPr>
                    </a:p>
                  </a:txBody>
                  <a:tcPr/>
                </a:tc>
                <a:tc>
                  <a:txBody>
                    <a:bodyPr/>
                    <a:lstStyle/>
                    <a:p>
                      <a:r>
                        <a:rPr lang="en-CN" sz="1600" dirty="0">
                          <a:latin typeface="+mn-ea"/>
                          <a:ea typeface="+mn-ea"/>
                        </a:rPr>
                        <a:t>2:20</a:t>
                      </a:r>
                    </a:p>
                  </a:txBody>
                  <a:tcPr/>
                </a:tc>
                <a:extLst>
                  <a:ext uri="{0D108BD9-81ED-4DB2-BD59-A6C34878D82A}">
                    <a16:rowId xmlns:a16="http://schemas.microsoft.com/office/drawing/2014/main" val="2944550"/>
                  </a:ext>
                </a:extLst>
              </a:tr>
            </a:tbl>
          </a:graphicData>
        </a:graphic>
      </p:graphicFrame>
    </p:spTree>
    <p:extLst>
      <p:ext uri="{BB962C8B-B14F-4D97-AF65-F5344CB8AC3E}">
        <p14:creationId xmlns:p14="http://schemas.microsoft.com/office/powerpoint/2010/main" val="4010255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6DBA4BC-3806-0866-B2FF-1D4FD4F3379C}"/>
              </a:ext>
            </a:extLst>
          </p:cNvPr>
          <p:cNvGraphicFramePr>
            <a:graphicFrameLocks noGrp="1"/>
          </p:cNvGraphicFramePr>
          <p:nvPr>
            <p:extLst>
              <p:ext uri="{D42A27DB-BD31-4B8C-83A1-F6EECF244321}">
                <p14:modId xmlns:p14="http://schemas.microsoft.com/office/powerpoint/2010/main" val="1046387862"/>
              </p:ext>
            </p:extLst>
          </p:nvPr>
        </p:nvGraphicFramePr>
        <p:xfrm>
          <a:off x="0" y="0"/>
          <a:ext cx="12006803" cy="5358638"/>
        </p:xfrm>
        <a:graphic>
          <a:graphicData uri="http://schemas.openxmlformats.org/drawingml/2006/table">
            <a:tbl>
              <a:tblPr firstRow="1" bandRow="1">
                <a:tableStyleId>{2D5ABB26-0587-4C30-8999-92F81FD0307C}</a:tableStyleId>
              </a:tblPr>
              <a:tblGrid>
                <a:gridCol w="983848">
                  <a:extLst>
                    <a:ext uri="{9D8B030D-6E8A-4147-A177-3AD203B41FA5}">
                      <a16:colId xmlns:a16="http://schemas.microsoft.com/office/drawing/2014/main" val="58421041"/>
                    </a:ext>
                  </a:extLst>
                </a:gridCol>
                <a:gridCol w="9529095">
                  <a:extLst>
                    <a:ext uri="{9D8B030D-6E8A-4147-A177-3AD203B41FA5}">
                      <a16:colId xmlns:a16="http://schemas.microsoft.com/office/drawing/2014/main" val="3596707140"/>
                    </a:ext>
                  </a:extLst>
                </a:gridCol>
                <a:gridCol w="1493860">
                  <a:extLst>
                    <a:ext uri="{9D8B030D-6E8A-4147-A177-3AD203B41FA5}">
                      <a16:colId xmlns:a16="http://schemas.microsoft.com/office/drawing/2014/main" val="3395717646"/>
                    </a:ext>
                  </a:extLst>
                </a:gridCol>
              </a:tblGrid>
              <a:tr h="426228">
                <a:tc>
                  <a:txBody>
                    <a:bodyPr/>
                    <a:lstStyle/>
                    <a:p>
                      <a:r>
                        <a:rPr lang="en-CN" sz="1600" dirty="0"/>
                        <a:t>Name</a:t>
                      </a:r>
                    </a:p>
                  </a:txBody>
                  <a:tcPr/>
                </a:tc>
                <a:tc>
                  <a:txBody>
                    <a:bodyPr/>
                    <a:lstStyle/>
                    <a:p>
                      <a:endParaRPr lang="en-CN" sz="1600" dirty="0"/>
                    </a:p>
                  </a:txBody>
                  <a:tcPr/>
                </a:tc>
                <a:tc>
                  <a:txBody>
                    <a:bodyPr/>
                    <a:lstStyle/>
                    <a:p>
                      <a:r>
                        <a:rPr lang="en-CN" sz="1600" dirty="0"/>
                        <a:t>Time(h)</a:t>
                      </a:r>
                    </a:p>
                  </a:txBody>
                  <a:tcPr/>
                </a:tc>
                <a:extLst>
                  <a:ext uri="{0D108BD9-81ED-4DB2-BD59-A6C34878D82A}">
                    <a16:rowId xmlns:a16="http://schemas.microsoft.com/office/drawing/2014/main" val="159235623"/>
                  </a:ext>
                </a:extLst>
              </a:tr>
              <a:tr h="426228">
                <a:tc>
                  <a:txBody>
                    <a:bodyPr/>
                    <a:lstStyle/>
                    <a:p>
                      <a:pPr marL="0" algn="l" defTabSz="914400" rtl="0" eaLnBrk="1" latinLnBrk="0" hangingPunct="1"/>
                      <a:r>
                        <a:rPr lang="zh-CN" altLang="en-US" sz="1800" b="0" i="0" kern="1200" dirty="0">
                          <a:solidFill>
                            <a:schemeClr val="tx1"/>
                          </a:solidFill>
                          <a:effectLst/>
                          <a:latin typeface="+mn-lt"/>
                          <a:ea typeface="+mn-ea"/>
                          <a:cs typeface="+mn-cs"/>
                        </a:rPr>
                        <a:t>郑博元</a:t>
                      </a:r>
                      <a:endParaRPr lang="en-CN" sz="1600" b="0" i="0" kern="1200" dirty="0">
                        <a:solidFill>
                          <a:schemeClr val="tx1"/>
                        </a:solidFill>
                        <a:effectLst/>
                        <a:latin typeface="+mn-ea"/>
                        <a:ea typeface="+mn-ea"/>
                        <a:cs typeface="+mn-cs"/>
                      </a:endParaRPr>
                    </a:p>
                  </a:txBody>
                  <a:tcPr/>
                </a:tc>
                <a:tc>
                  <a:txBody>
                    <a:bodyPr/>
                    <a:lstStyle/>
                    <a:p>
                      <a:pPr marL="0" algn="l" defTabSz="914400" rtl="0" eaLnBrk="1" latinLnBrk="0" hangingPunct="1"/>
                      <a:r>
                        <a:rPr lang="en-CN" sz="1600" b="0" i="0" kern="1200" dirty="0">
                          <a:solidFill>
                            <a:schemeClr val="tx1"/>
                          </a:solidFill>
                          <a:effectLst/>
                          <a:latin typeface="+mn-ea"/>
                          <a:ea typeface="+mn-ea"/>
                          <a:cs typeface="+mn-cs"/>
                        </a:rPr>
                        <a:t>Language </a:t>
                      </a:r>
                      <a:r>
                        <a:rPr lang="en-US" sz="1600" b="0" i="0" kern="1200" dirty="0">
                          <a:solidFill>
                            <a:schemeClr val="tx1"/>
                          </a:solidFill>
                          <a:effectLst/>
                          <a:latin typeface="+mn-ea"/>
                          <a:ea typeface="+mn-ea"/>
                          <a:cs typeface="+mn-cs"/>
                        </a:rPr>
                        <a:t>Agent</a:t>
                      </a:r>
                      <a:r>
                        <a:rPr lang="zh-CN" altLang="en-US" sz="1600" b="0" i="0" kern="1200" dirty="0">
                          <a:solidFill>
                            <a:schemeClr val="tx1"/>
                          </a:solidFill>
                          <a:effectLst/>
                          <a:latin typeface="+mn-ea"/>
                          <a:ea typeface="+mn-ea"/>
                          <a:cs typeface="+mn-cs"/>
                        </a:rPr>
                        <a:t>是一种能够观察环境并与环境进行交互（</a:t>
                      </a:r>
                      <a:r>
                        <a:rPr lang="en-US" sz="1600" b="0" i="0" kern="1200" dirty="0">
                          <a:solidFill>
                            <a:schemeClr val="tx1"/>
                          </a:solidFill>
                          <a:effectLst/>
                          <a:latin typeface="+mn-ea"/>
                          <a:ea typeface="+mn-ea"/>
                          <a:cs typeface="+mn-cs"/>
                        </a:rPr>
                        <a:t>interaction）</a:t>
                      </a:r>
                      <a:r>
                        <a:rPr lang="zh-CN" altLang="en-US" sz="1600" b="0" i="0" kern="1200" dirty="0">
                          <a:solidFill>
                            <a:schemeClr val="tx1"/>
                          </a:solidFill>
                          <a:effectLst/>
                          <a:latin typeface="+mn-ea"/>
                          <a:ea typeface="+mn-ea"/>
                          <a:cs typeface="+mn-cs"/>
                        </a:rPr>
                        <a:t>的智能系统</a:t>
                      </a:r>
                      <a:endParaRPr lang="en-CN" sz="1600" b="0" i="0" kern="1200" dirty="0">
                        <a:solidFill>
                          <a:schemeClr val="tx1"/>
                        </a:solidFill>
                        <a:effectLst/>
                        <a:latin typeface="+mn-ea"/>
                        <a:ea typeface="+mn-ea"/>
                        <a:cs typeface="+mn-cs"/>
                      </a:endParaRPr>
                    </a:p>
                  </a:txBody>
                  <a:tcPr/>
                </a:tc>
                <a:tc>
                  <a:txBody>
                    <a:bodyPr/>
                    <a:lstStyle/>
                    <a:p>
                      <a:r>
                        <a:rPr lang="en-CN" sz="1600" dirty="0">
                          <a:latin typeface="+mn-ea"/>
                          <a:ea typeface="+mn-ea"/>
                        </a:rPr>
                        <a:t>2:20</a:t>
                      </a:r>
                    </a:p>
                  </a:txBody>
                  <a:tcPr/>
                </a:tc>
                <a:extLst>
                  <a:ext uri="{0D108BD9-81ED-4DB2-BD59-A6C34878D82A}">
                    <a16:rowId xmlns:a16="http://schemas.microsoft.com/office/drawing/2014/main" val="3109594203"/>
                  </a:ext>
                </a:extLst>
              </a:tr>
              <a:tr h="426228">
                <a:tc>
                  <a:txBody>
                    <a:bodyPr/>
                    <a:lstStyle/>
                    <a:p>
                      <a:pPr marL="0" algn="l" defTabSz="914400" rtl="0" eaLnBrk="1" latinLnBrk="0" hangingPunct="1"/>
                      <a:endParaRPr lang="en-CN" sz="1600" b="0" i="0" kern="1200" dirty="0">
                        <a:solidFill>
                          <a:schemeClr val="tx1"/>
                        </a:solidFill>
                        <a:effectLst/>
                        <a:latin typeface="+mn-ea"/>
                        <a:ea typeface="+mn-ea"/>
                        <a:cs typeface="+mn-cs"/>
                      </a:endParaRPr>
                    </a:p>
                  </a:txBody>
                  <a:tcPr/>
                </a:tc>
                <a:tc>
                  <a:txBody>
                    <a:bodyPr/>
                    <a:lstStyle/>
                    <a:p>
                      <a:pPr marL="0" algn="l" defTabSz="914400" rtl="0" eaLnBrk="1" latinLnBrk="0" hangingPunct="1"/>
                      <a:endParaRPr lang="en-CN" sz="1600" b="0" i="0" kern="1200" dirty="0">
                        <a:solidFill>
                          <a:schemeClr val="tx1"/>
                        </a:solidFill>
                        <a:effectLst/>
                        <a:latin typeface="+mn-ea"/>
                        <a:ea typeface="+mn-ea"/>
                        <a:cs typeface="+mn-cs"/>
                      </a:endParaRPr>
                    </a:p>
                  </a:txBody>
                  <a:tcPr/>
                </a:tc>
                <a:tc>
                  <a:txBody>
                    <a:bodyPr/>
                    <a:lstStyle/>
                    <a:p>
                      <a:endParaRPr lang="en-CN" sz="1600" dirty="0">
                        <a:latin typeface="+mn-ea"/>
                        <a:ea typeface="+mn-ea"/>
                      </a:endParaRPr>
                    </a:p>
                  </a:txBody>
                  <a:tcPr/>
                </a:tc>
                <a:extLst>
                  <a:ext uri="{0D108BD9-81ED-4DB2-BD59-A6C34878D82A}">
                    <a16:rowId xmlns:a16="http://schemas.microsoft.com/office/drawing/2014/main" val="883369677"/>
                  </a:ext>
                </a:extLst>
              </a:tr>
              <a:tr h="426228">
                <a:tc>
                  <a:txBody>
                    <a:bodyPr/>
                    <a:lstStyle/>
                    <a:p>
                      <a:pPr marL="0" algn="l" defTabSz="914400" rtl="0" eaLnBrk="1" latinLnBrk="0" hangingPunct="1"/>
                      <a:endParaRPr lang="en-CN" sz="1600" b="0" i="0" kern="1200" dirty="0">
                        <a:solidFill>
                          <a:schemeClr val="tx1"/>
                        </a:solidFill>
                        <a:effectLst/>
                        <a:latin typeface="+mn-ea"/>
                        <a:ea typeface="+mn-ea"/>
                        <a:cs typeface="+mn-cs"/>
                      </a:endParaRPr>
                    </a:p>
                  </a:txBody>
                  <a:tcPr/>
                </a:tc>
                <a:tc>
                  <a:txBody>
                    <a:bodyPr/>
                    <a:lstStyle/>
                    <a:p>
                      <a:pPr marL="0" algn="l" defTabSz="914400" rtl="0" eaLnBrk="1" latinLnBrk="0" hangingPunct="1"/>
                      <a:endParaRPr lang="en-CN" sz="1600" b="0" i="0" kern="1200" dirty="0">
                        <a:solidFill>
                          <a:schemeClr val="tx1"/>
                        </a:solidFill>
                        <a:effectLst/>
                        <a:latin typeface="+mn-ea"/>
                        <a:ea typeface="+mn-ea"/>
                        <a:cs typeface="+mn-cs"/>
                      </a:endParaRPr>
                    </a:p>
                  </a:txBody>
                  <a:tcPr/>
                </a:tc>
                <a:tc>
                  <a:txBody>
                    <a:bodyPr/>
                    <a:lstStyle/>
                    <a:p>
                      <a:endParaRPr lang="en-CN" sz="1600" dirty="0">
                        <a:latin typeface="+mn-ea"/>
                        <a:ea typeface="+mn-ea"/>
                      </a:endParaRPr>
                    </a:p>
                  </a:txBody>
                  <a:tcPr/>
                </a:tc>
                <a:extLst>
                  <a:ext uri="{0D108BD9-81ED-4DB2-BD59-A6C34878D82A}">
                    <a16:rowId xmlns:a16="http://schemas.microsoft.com/office/drawing/2014/main" val="86015791"/>
                  </a:ext>
                </a:extLst>
              </a:tr>
              <a:tr h="763675">
                <a:tc>
                  <a:txBody>
                    <a:bodyPr/>
                    <a:lstStyle/>
                    <a:p>
                      <a:pPr marL="0" algn="l" defTabSz="914400" rtl="0" eaLnBrk="1" latinLnBrk="0" hangingPunct="1"/>
                      <a:endParaRPr lang="en-CN" sz="1600" b="0" i="0" kern="1200" dirty="0">
                        <a:solidFill>
                          <a:schemeClr val="tx1"/>
                        </a:solidFill>
                        <a:effectLst/>
                        <a:latin typeface="+mn-ea"/>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N" sz="1600" b="0" i="0" kern="1200" dirty="0">
                        <a:solidFill>
                          <a:schemeClr val="tx1"/>
                        </a:solidFill>
                        <a:effectLst/>
                        <a:latin typeface="+mn-ea"/>
                        <a:ea typeface="+mn-ea"/>
                        <a:cs typeface="+mn-cs"/>
                      </a:endParaRPr>
                    </a:p>
                  </a:txBody>
                  <a:tcPr/>
                </a:tc>
                <a:tc>
                  <a:txBody>
                    <a:bodyPr/>
                    <a:lstStyle/>
                    <a:p>
                      <a:endParaRPr lang="en-CN" sz="1600" dirty="0"/>
                    </a:p>
                  </a:txBody>
                  <a:tcPr/>
                </a:tc>
                <a:extLst>
                  <a:ext uri="{0D108BD9-81ED-4DB2-BD59-A6C34878D82A}">
                    <a16:rowId xmlns:a16="http://schemas.microsoft.com/office/drawing/2014/main" val="928512990"/>
                  </a:ext>
                </a:extLst>
              </a:tr>
              <a:tr h="763675">
                <a:tc>
                  <a:txBody>
                    <a:bodyPr/>
                    <a:lstStyle/>
                    <a:p>
                      <a:endParaRPr lang="en-CN" sz="1600" dirty="0"/>
                    </a:p>
                  </a:txBody>
                  <a:tcPr/>
                </a:tc>
                <a:tc>
                  <a:txBody>
                    <a:bodyPr/>
                    <a:lstStyle/>
                    <a:p>
                      <a:endParaRPr lang="en-CN" sz="1600" dirty="0"/>
                    </a:p>
                  </a:txBody>
                  <a:tcPr/>
                </a:tc>
                <a:tc>
                  <a:txBody>
                    <a:bodyPr/>
                    <a:lstStyle/>
                    <a:p>
                      <a:endParaRPr lang="en-CN" sz="1600" dirty="0"/>
                    </a:p>
                  </a:txBody>
                  <a:tcPr/>
                </a:tc>
                <a:extLst>
                  <a:ext uri="{0D108BD9-81ED-4DB2-BD59-A6C34878D82A}">
                    <a16:rowId xmlns:a16="http://schemas.microsoft.com/office/drawing/2014/main" val="2124854330"/>
                  </a:ext>
                </a:extLst>
              </a:tr>
              <a:tr h="763675">
                <a:tc>
                  <a:txBody>
                    <a:bodyPr/>
                    <a:lstStyle/>
                    <a:p>
                      <a:endParaRPr lang="en-CN" sz="1600" dirty="0"/>
                    </a:p>
                  </a:txBody>
                  <a:tcPr/>
                </a:tc>
                <a:tc>
                  <a:txBody>
                    <a:bodyPr/>
                    <a:lstStyle/>
                    <a:p>
                      <a:pPr marL="0" algn="l" defTabSz="914400" rtl="0" eaLnBrk="1" latinLnBrk="0" hangingPunct="1"/>
                      <a:endParaRPr lang="en-CN" sz="1600" kern="1200" dirty="0">
                        <a:solidFill>
                          <a:schemeClr val="tx1"/>
                        </a:solidFill>
                        <a:latin typeface="+mn-lt"/>
                        <a:ea typeface="+mn-ea"/>
                        <a:cs typeface="+mn-cs"/>
                      </a:endParaRPr>
                    </a:p>
                  </a:txBody>
                  <a:tcPr/>
                </a:tc>
                <a:tc>
                  <a:txBody>
                    <a:bodyPr/>
                    <a:lstStyle/>
                    <a:p>
                      <a:endParaRPr lang="en-CN" sz="1600" dirty="0"/>
                    </a:p>
                  </a:txBody>
                  <a:tcPr/>
                </a:tc>
                <a:extLst>
                  <a:ext uri="{0D108BD9-81ED-4DB2-BD59-A6C34878D82A}">
                    <a16:rowId xmlns:a16="http://schemas.microsoft.com/office/drawing/2014/main" val="231576629"/>
                  </a:ext>
                </a:extLst>
              </a:tr>
              <a:tr h="599026">
                <a:tc>
                  <a:txBody>
                    <a:bodyPr/>
                    <a:lstStyle/>
                    <a:p>
                      <a:endParaRPr lang="en-C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N" sz="1600" dirty="0"/>
                    </a:p>
                  </a:txBody>
                  <a:tcPr/>
                </a:tc>
                <a:tc>
                  <a:txBody>
                    <a:bodyPr/>
                    <a:lstStyle/>
                    <a:p>
                      <a:endParaRPr lang="en-CN" sz="1600" dirty="0"/>
                    </a:p>
                  </a:txBody>
                  <a:tcPr/>
                </a:tc>
                <a:extLst>
                  <a:ext uri="{0D108BD9-81ED-4DB2-BD59-A6C34878D82A}">
                    <a16:rowId xmlns:a16="http://schemas.microsoft.com/office/drawing/2014/main" val="134765358"/>
                  </a:ext>
                </a:extLst>
              </a:tr>
              <a:tr h="763675">
                <a:tc>
                  <a:txBody>
                    <a:bodyPr/>
                    <a:lstStyle/>
                    <a:p>
                      <a:endParaRPr lang="en-CN" sz="1600" dirty="0"/>
                    </a:p>
                  </a:txBody>
                  <a:tcPr/>
                </a:tc>
                <a:tc>
                  <a:txBody>
                    <a:bodyPr/>
                    <a:lstStyle/>
                    <a:p>
                      <a:endParaRPr lang="en-CN" sz="1600" dirty="0">
                        <a:highlight>
                          <a:srgbClr val="FFFF00"/>
                        </a:highlight>
                      </a:endParaRPr>
                    </a:p>
                  </a:txBody>
                  <a:tcPr/>
                </a:tc>
                <a:tc>
                  <a:txBody>
                    <a:bodyPr/>
                    <a:lstStyle/>
                    <a:p>
                      <a:endParaRPr lang="en-CN" sz="1600" dirty="0"/>
                    </a:p>
                  </a:txBody>
                  <a:tcPr/>
                </a:tc>
                <a:extLst>
                  <a:ext uri="{0D108BD9-81ED-4DB2-BD59-A6C34878D82A}">
                    <a16:rowId xmlns:a16="http://schemas.microsoft.com/office/drawing/2014/main" val="2588076320"/>
                  </a:ext>
                </a:extLst>
              </a:tr>
            </a:tbl>
          </a:graphicData>
        </a:graphic>
      </p:graphicFrame>
    </p:spTree>
    <p:extLst>
      <p:ext uri="{BB962C8B-B14F-4D97-AF65-F5344CB8AC3E}">
        <p14:creationId xmlns:p14="http://schemas.microsoft.com/office/powerpoint/2010/main" val="2275534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329</TotalTime>
  <Words>864</Words>
  <Application>Microsoft Macintosh PowerPoint</Application>
  <PresentationFormat>Widescreen</PresentationFormat>
  <Paragraphs>82</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等线</vt:lpstr>
      <vt:lpstr>Arial</vt:lpstr>
      <vt:lpstr>Calibri</vt:lpstr>
      <vt:lpstr>Calibri Light</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183</cp:revision>
  <dcterms:created xsi:type="dcterms:W3CDTF">2026-09-10T02:10:06Z</dcterms:created>
  <dcterms:modified xsi:type="dcterms:W3CDTF">2026-09-10T07:39:38Z</dcterms:modified>
</cp:coreProperties>
</file>